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rata"/>
      <p:regular r:id="rId201314"/>
    </p:embeddedFont>
    <p:embeddedFont>
      <p:font typeface="Raleway Bold"/>
      <p:regular r:id="rId201315"/>
    </p:embeddedFont>
    <p:embeddedFont>
      <p:font typeface="Raleway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Replace Magic Number with Symbolic Constant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Um refactoring para melhorar a legibilidade e a manutenção do código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4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 que é um Magic Number?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628676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Magic Number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é um número escrito diretamente no código cujo significado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não é evidente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para quem está lendo.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032251" y="3050977"/>
            <a:ext cx="3504219" cy="982861"/>
          </a:xfrm>
          <a:prstGeom prst="roundRect">
            <a:avLst>
              <a:gd name="adj" fmla="val 2885"/>
            </a:avLst>
          </a:prstGeom>
          <a:solidFill>
            <a:srgbClr val="28292A"/>
          </a:solidFill>
          <a:ln/>
        </p:spPr>
      </p:sp>
      <p:sp>
        <p:nvSpPr>
          <p:cNvPr id="6" name="Text 3"/>
          <p:cNvSpPr/>
          <p:nvPr/>
        </p:nvSpPr>
        <p:spPr>
          <a:xfrm>
            <a:off x="8259060" y="3239988"/>
            <a:ext cx="3050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user.age &gt;= 18: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allow_access()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032251" y="4246463"/>
            <a:ext cx="3504219" cy="736997"/>
          </a:xfrm>
          <a:prstGeom prst="roundRect">
            <a:avLst>
              <a:gd name="adj" fmla="val 3847"/>
            </a:avLst>
          </a:prstGeom>
          <a:solidFill>
            <a:srgbClr val="26262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4533205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46499" y="4463752"/>
            <a:ext cx="33105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que significa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18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?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032251" y="5196086"/>
            <a:ext cx="350421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problema não é utilizar o número 18, mas o fato de seu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significado não estar explícito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no código.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382"/>
            <a:ext cx="10868745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Por que os Magic Numbers podem ser um problema?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851" y="2097286"/>
            <a:ext cx="265800" cy="2658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7326" y="2091829"/>
            <a:ext cx="46424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Dificultam a leitura do código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851" y="2966541"/>
            <a:ext cx="265800" cy="2658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37326" y="2961084"/>
            <a:ext cx="46424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Tornam as regras do sistema obscuras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851" y="3835797"/>
            <a:ext cx="265800" cy="2658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37326" y="3830340"/>
            <a:ext cx="46424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Causam erros quando o valor se repete</a:t>
            </a:r>
            <a:endParaRPr lang="en-US" sz="17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7851" y="4705052"/>
            <a:ext cx="265800" cy="26580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37326" y="4699595"/>
            <a:ext cx="46424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Dificultam alterações futuras</a:t>
            </a:r>
            <a:endParaRPr lang="en-US" sz="17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7851" y="5574308"/>
            <a:ext cx="265800" cy="26580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37326" y="5568851"/>
            <a:ext cx="4642428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Escondem informações importantes do negócio</a:t>
            </a:r>
            <a:endParaRPr lang="en-US" sz="1700" dirty="0"/>
          </a:p>
        </p:txBody>
      </p:sp>
      <p:sp>
        <p:nvSpPr>
          <p:cNvPr id="13" name="Shape 6"/>
          <p:cNvSpPr/>
          <p:nvPr/>
        </p:nvSpPr>
        <p:spPr>
          <a:xfrm>
            <a:off x="6318290" y="2091829"/>
            <a:ext cx="5218280" cy="1771749"/>
          </a:xfrm>
          <a:prstGeom prst="roundRect">
            <a:avLst>
              <a:gd name="adj" fmla="val 1500"/>
            </a:avLst>
          </a:prstGeom>
          <a:solidFill>
            <a:srgbClr val="28292A"/>
          </a:solidFill>
          <a:ln/>
        </p:spPr>
      </p:sp>
      <p:sp>
        <p:nvSpPr>
          <p:cNvPr id="14" name="Text 7"/>
          <p:cNvSpPr/>
          <p:nvPr/>
        </p:nvSpPr>
        <p:spPr>
          <a:xfrm>
            <a:off x="6530911" y="2269034"/>
            <a:ext cx="4793039" cy="141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user.age &gt;= 18: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allow_access()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user.age &lt; 18: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deny_access()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6318290" y="4050407"/>
            <a:ext cx="521828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Os dois valores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18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representam a mesma regra, mas o código não deixa isso explícito.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19534"/>
            <a:ext cx="6296860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 que acontece quando o valor se repete?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233360" y="1229221"/>
            <a:ext cx="6296860" cy="1240234"/>
          </a:xfrm>
          <a:prstGeom prst="roundRect">
            <a:avLst>
              <a:gd name="adj" fmla="val 1500"/>
            </a:avLst>
          </a:prstGeom>
          <a:solidFill>
            <a:srgbClr val="28292A"/>
          </a:solidFill>
          <a:ln/>
        </p:spPr>
      </p:sp>
      <p:sp>
        <p:nvSpPr>
          <p:cNvPr id="5" name="Text 2"/>
          <p:cNvSpPr/>
          <p:nvPr/>
        </p:nvSpPr>
        <p:spPr>
          <a:xfrm>
            <a:off x="5382185" y="1353245"/>
            <a:ext cx="5999211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attempts &gt;= 3: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block_user()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attempts == 3: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notify_admin()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233360" y="2561034"/>
            <a:ext cx="629686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a regra mudar de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3 tentativas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para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5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, precisamos encontrar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todos os lugares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onde esse valor aparece e alterá-los manualmente.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697" y="2981226"/>
            <a:ext cx="4888187" cy="29012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39957" y="5092479"/>
            <a:ext cx="1215104" cy="468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Alterar Manual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808595" y="5209518"/>
            <a:ext cx="1215103" cy="234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Procurar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252263" y="5209518"/>
            <a:ext cx="1215104" cy="234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Valor 3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233360" y="5974060"/>
            <a:ext cx="690644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mesmo valor pode representar uma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única regra do sistema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684"/>
            <a:ext cx="10868745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 que o Replace Magic Number with Symbolic Constant propõe?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992213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94194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Substituir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94194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Nomear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94194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Entender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94194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Identificar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053733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Esse processo transforma valores obscuros em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regras explícitas e autoexplicativas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no código.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070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Antes e depois do refactoring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381151"/>
            <a:ext cx="5476043" cy="2969716"/>
          </a:xfrm>
          <a:prstGeom prst="roundRect">
            <a:avLst>
              <a:gd name="adj" fmla="val 955"/>
            </a:avLst>
          </a:prstGeom>
          <a:solidFill>
            <a:srgbClr val="957D00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570163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ANTES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714357" y="3078063"/>
            <a:ext cx="5098029" cy="982861"/>
          </a:xfrm>
          <a:prstGeom prst="roundRect">
            <a:avLst>
              <a:gd name="adj" fmla="val 2885"/>
            </a:avLst>
          </a:prstGeom>
          <a:solidFill>
            <a:srgbClr val="A28A0D"/>
          </a:solidFill>
          <a:ln/>
        </p:spPr>
      </p:sp>
      <p:sp>
        <p:nvSpPr>
          <p:cNvPr id="6" name="Text 4"/>
          <p:cNvSpPr/>
          <p:nvPr/>
        </p:nvSpPr>
        <p:spPr>
          <a:xfrm>
            <a:off x="941166" y="3267075"/>
            <a:ext cx="464441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user.age &gt;= 18: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allow_access()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4357" y="4273550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valor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18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aparece sem contexto ou significado.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2570163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DEPOIS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332776" y="3078063"/>
            <a:ext cx="5203794" cy="1587698"/>
          </a:xfrm>
          <a:prstGeom prst="roundRect">
            <a:avLst>
              <a:gd name="adj" fmla="val 1786"/>
            </a:avLst>
          </a:prstGeom>
          <a:solidFill>
            <a:srgbClr val="28292A"/>
          </a:solidFill>
          <a:ln/>
        </p:spPr>
      </p:sp>
      <p:sp>
        <p:nvSpPr>
          <p:cNvPr id="10" name="Text 8"/>
          <p:cNvSpPr/>
          <p:nvPr/>
        </p:nvSpPr>
        <p:spPr>
          <a:xfrm>
            <a:off x="6559584" y="3267075"/>
            <a:ext cx="475017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MINIMUM_AGE = 18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user.age &gt;= MINIMUM_AGE: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allow_access()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32776" y="4878387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Agora o próprio código deixa claro 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significado do valor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7071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Por que usar uma constante?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415455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ANTES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61475" y="1836638"/>
            <a:ext cx="2946723" cy="1124446"/>
          </a:xfrm>
          <a:prstGeom prst="roundRect">
            <a:avLst>
              <a:gd name="adj" fmla="val 2206"/>
            </a:avLst>
          </a:prstGeom>
          <a:solidFill>
            <a:srgbClr val="28292A"/>
          </a:solidFill>
          <a:ln/>
        </p:spPr>
      </p:sp>
      <p:sp>
        <p:nvSpPr>
          <p:cNvPr id="6" name="Text 3"/>
          <p:cNvSpPr/>
          <p:nvPr/>
        </p:nvSpPr>
        <p:spPr>
          <a:xfrm>
            <a:off x="859907" y="2001937"/>
            <a:ext cx="254985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len(password) &lt; 8: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"Password too short")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898902" y="1270794"/>
            <a:ext cx="3184842" cy="2646859"/>
          </a:xfrm>
          <a:prstGeom prst="roundRect">
            <a:avLst>
              <a:gd name="adj" fmla="val 937"/>
            </a:avLst>
          </a:prstGeom>
          <a:solidFill>
            <a:srgbClr val="957D00"/>
          </a:solidFill>
          <a:ln/>
        </p:spPr>
      </p:sp>
      <p:sp>
        <p:nvSpPr>
          <p:cNvPr id="8" name="Text 5"/>
          <p:cNvSpPr/>
          <p:nvPr/>
        </p:nvSpPr>
        <p:spPr>
          <a:xfrm>
            <a:off x="4064196" y="1415455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DEPOIS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64196" y="1836638"/>
            <a:ext cx="2854254" cy="1918295"/>
          </a:xfrm>
          <a:prstGeom prst="roundRect">
            <a:avLst>
              <a:gd name="adj" fmla="val 1293"/>
            </a:avLst>
          </a:prstGeom>
          <a:solidFill>
            <a:srgbClr val="A28A0D"/>
          </a:solidFill>
          <a:ln/>
        </p:spPr>
      </p:sp>
      <p:sp>
        <p:nvSpPr>
          <p:cNvPr id="10" name="Text 7"/>
          <p:cNvSpPr/>
          <p:nvPr/>
        </p:nvSpPr>
        <p:spPr>
          <a:xfrm>
            <a:off x="4262629" y="2001937"/>
            <a:ext cx="245738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MIN_PASSWORD_LENGTH = 8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len(password) &lt; MIN_PASSWORD_LENGTH: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"Password too short")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4080371"/>
            <a:ext cx="3076101" cy="1171972"/>
          </a:xfrm>
          <a:prstGeom prst="roundRect">
            <a:avLst>
              <a:gd name="adj" fmla="val 2117"/>
            </a:avLst>
          </a:prstGeom>
          <a:solidFill>
            <a:srgbClr val="3A3B3C"/>
          </a:solidFill>
          <a:ln/>
        </p:spPr>
      </p:sp>
      <p:sp>
        <p:nvSpPr>
          <p:cNvPr id="12" name="Text 9"/>
          <p:cNvSpPr/>
          <p:nvPr/>
        </p:nvSpPr>
        <p:spPr>
          <a:xfrm>
            <a:off x="826769" y="4245670"/>
            <a:ext cx="274551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Mais legível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6769" y="4590951"/>
            <a:ext cx="274551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significado do valor fica explícito.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882233" y="4080371"/>
            <a:ext cx="3076101" cy="1171972"/>
          </a:xfrm>
          <a:prstGeom prst="roundRect">
            <a:avLst>
              <a:gd name="adj" fmla="val 2117"/>
            </a:avLst>
          </a:prstGeom>
          <a:solidFill>
            <a:srgbClr val="3A3B3C"/>
          </a:solidFill>
          <a:ln/>
        </p:spPr>
      </p:sp>
      <p:sp>
        <p:nvSpPr>
          <p:cNvPr id="15" name="Text 12"/>
          <p:cNvSpPr/>
          <p:nvPr/>
        </p:nvSpPr>
        <p:spPr>
          <a:xfrm>
            <a:off x="4047528" y="4245670"/>
            <a:ext cx="274551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Fácil de manter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47528" y="4590951"/>
            <a:ext cx="274551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regra pode ser alterada em um único lugar.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5397004"/>
            <a:ext cx="6296860" cy="923925"/>
          </a:xfrm>
          <a:prstGeom prst="roundRect">
            <a:avLst>
              <a:gd name="adj" fmla="val 2685"/>
            </a:avLst>
          </a:prstGeom>
          <a:solidFill>
            <a:srgbClr val="3A3B3C"/>
          </a:solidFill>
          <a:ln/>
        </p:spPr>
      </p:sp>
      <p:sp>
        <p:nvSpPr>
          <p:cNvPr id="18" name="Text 15"/>
          <p:cNvSpPr/>
          <p:nvPr/>
        </p:nvSpPr>
        <p:spPr>
          <a:xfrm>
            <a:off x="826769" y="5562302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Menos erros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6769" y="5907584"/>
            <a:ext cx="59662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Elimina a duplicação de valores literais.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31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Como representar constantes em Python?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2185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não possui uma palavra-chave específica para declarar constantes. Por convenção, constantes são escritas utilizando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MAIÚSCULAS + SNAKE_CASE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851944"/>
            <a:ext cx="5203794" cy="1587698"/>
          </a:xfrm>
          <a:prstGeom prst="roundRect">
            <a:avLst>
              <a:gd name="adj" fmla="val 1786"/>
            </a:avLst>
          </a:prstGeom>
          <a:solidFill>
            <a:srgbClr val="28292A"/>
          </a:solidFill>
          <a:ln/>
        </p:spPr>
      </p:sp>
      <p:sp>
        <p:nvSpPr>
          <p:cNvPr id="5" name="Text 3"/>
          <p:cNvSpPr/>
          <p:nvPr/>
        </p:nvSpPr>
        <p:spPr>
          <a:xfrm>
            <a:off x="888283" y="3040955"/>
            <a:ext cx="475017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MAX_LOGIN_ATTEMPTS = 3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MIN_PASSWORD_LENGTH = 8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DEFAULT_PAGE_SIZE = 20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TAX_RATE = 0.10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8093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Essa convenção indica para outros desenvolvedores que esses valores devem ser tratados como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constantes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864894"/>
            <a:ext cx="5339820" cy="1139924"/>
          </a:xfrm>
          <a:prstGeom prst="roundRect">
            <a:avLst>
              <a:gd name="adj" fmla="val 2487"/>
            </a:avLst>
          </a:prstGeom>
          <a:solidFill>
            <a:srgbClr val="1B1C1D"/>
          </a:solidFill>
          <a:ln w="25399">
            <a:solidFill>
              <a:srgbClr val="5354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5881" y="5079305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MAIÚSCULAS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75881" y="5487988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Indica que o valor não deve ser alterado.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90301" y="4864894"/>
            <a:ext cx="5339919" cy="1139924"/>
          </a:xfrm>
          <a:prstGeom prst="roundRect">
            <a:avLst>
              <a:gd name="adj" fmla="val 2487"/>
            </a:avLst>
          </a:prstGeom>
          <a:solidFill>
            <a:srgbClr val="1B1C1D"/>
          </a:solidFill>
          <a:ln w="25399">
            <a:solidFill>
              <a:srgbClr val="5354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4708" y="5079305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SNAKE_CASE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404708" y="5487988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Padrão de nomenclatura para constantes em Python.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738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Exemplos práticos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86458"/>
            <a:ext cx="2364224" cy="14611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69691"/>
            <a:ext cx="537335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Autenticação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61475" y="3040559"/>
            <a:ext cx="5373355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ANTES: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61475" y="3337123"/>
            <a:ext cx="5373355" cy="706239"/>
          </a:xfrm>
          <a:prstGeom prst="roundRect">
            <a:avLst>
              <a:gd name="adj" fmla="val 2886"/>
            </a:avLst>
          </a:prstGeom>
          <a:solidFill>
            <a:srgbClr val="28292A"/>
          </a:solidFill>
          <a:ln/>
        </p:spPr>
      </p:sp>
      <p:sp>
        <p:nvSpPr>
          <p:cNvPr id="7" name="Text 4"/>
          <p:cNvSpPr/>
          <p:nvPr/>
        </p:nvSpPr>
        <p:spPr>
          <a:xfrm>
            <a:off x="824487" y="3472954"/>
            <a:ext cx="5047330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login_attempts &gt;= 3: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block_user()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61475" y="4153198"/>
            <a:ext cx="5373355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DEPOIS: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1475" y="4449762"/>
            <a:ext cx="5373355" cy="923528"/>
          </a:xfrm>
          <a:prstGeom prst="roundRect">
            <a:avLst>
              <a:gd name="adj" fmla="val 2207"/>
            </a:avLst>
          </a:prstGeom>
          <a:solidFill>
            <a:srgbClr val="28292A"/>
          </a:solidFill>
          <a:ln/>
        </p:spPr>
      </p:sp>
      <p:sp>
        <p:nvSpPr>
          <p:cNvPr id="10" name="Text 7"/>
          <p:cNvSpPr/>
          <p:nvPr/>
        </p:nvSpPr>
        <p:spPr>
          <a:xfrm>
            <a:off x="824487" y="4585593"/>
            <a:ext cx="5047330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MAX_LOGIN_ATTEMPTS = 3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login_attempts &gt;= MAX_LOGIN_ATTEMPTS: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block_user()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1475" y="5483126"/>
            <a:ext cx="5373355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constante transforma o valor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3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em uma regra claramente identificada.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866" y="1186458"/>
            <a:ext cx="2364224" cy="14611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56866" y="2769691"/>
            <a:ext cx="5373355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API de E-commerce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156866" y="3040559"/>
            <a:ext cx="5373355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ANTES: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56866" y="3337123"/>
            <a:ext cx="5373355" cy="923528"/>
          </a:xfrm>
          <a:prstGeom prst="roundRect">
            <a:avLst>
              <a:gd name="adj" fmla="val 2207"/>
            </a:avLst>
          </a:prstGeom>
          <a:solidFill>
            <a:srgbClr val="28292A"/>
          </a:solidFill>
          <a:ln/>
        </p:spPr>
      </p:sp>
      <p:sp>
        <p:nvSpPr>
          <p:cNvPr id="16" name="Text 12"/>
          <p:cNvSpPr/>
          <p:nvPr/>
        </p:nvSpPr>
        <p:spPr>
          <a:xfrm>
            <a:off x="6319878" y="3472954"/>
            <a:ext cx="5047330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len(products) &gt; 20: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"Too many products")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56866" y="4370487"/>
            <a:ext cx="5373355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DEPOIS: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56866" y="4667052"/>
            <a:ext cx="5373355" cy="1140817"/>
          </a:xfrm>
          <a:prstGeom prst="roundRect">
            <a:avLst>
              <a:gd name="adj" fmla="val 1786"/>
            </a:avLst>
          </a:prstGeom>
          <a:solidFill>
            <a:srgbClr val="28292A"/>
          </a:solidFill>
          <a:ln/>
        </p:spPr>
      </p:sp>
      <p:sp>
        <p:nvSpPr>
          <p:cNvPr id="19" name="Text 15"/>
          <p:cNvSpPr/>
          <p:nvPr/>
        </p:nvSpPr>
        <p:spPr>
          <a:xfrm>
            <a:off x="6319878" y="4802882"/>
            <a:ext cx="5047330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MAX_PRODUCTS_PER_PAGE = 20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len(products) &gt; MAX_PRODUCTS_PER_PAGE: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ValueError(</a:t>
            </a:r>
            <a:endParaRPr lang="en-US" sz="10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"Too many products")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156866" y="5917704"/>
            <a:ext cx="5373355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valor 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20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representa uma regra do sistema relacionada à quantidade máxima de produtos exibidos por página.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962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Onde colocar as constantes?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57424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Quando uma constante é utilizada em diferentes partes do projeto, podemos centralizá-la em um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arquivo específico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2125266"/>
            <a:ext cx="5214609" cy="2089547"/>
          </a:xfrm>
          <a:prstGeom prst="roundRect">
            <a:avLst>
              <a:gd name="adj" fmla="val 1293"/>
            </a:avLst>
          </a:prstGeom>
          <a:solidFill>
            <a:srgbClr val="28292A"/>
          </a:solidFill>
          <a:ln/>
        </p:spPr>
      </p:sp>
      <p:sp>
        <p:nvSpPr>
          <p:cNvPr id="5" name="Text 3"/>
          <p:cNvSpPr/>
          <p:nvPr/>
        </p:nvSpPr>
        <p:spPr>
          <a:xfrm>
            <a:off x="877568" y="2305348"/>
            <a:ext cx="4782423" cy="172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routes/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models/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constants.py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4407991"/>
            <a:ext cx="5824193" cy="287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Arquivo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highlight>
                  <a:srgbClr val="2829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constants.py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475" y="4889004"/>
            <a:ext cx="5214609" cy="1224855"/>
          </a:xfrm>
          <a:prstGeom prst="roundRect">
            <a:avLst>
              <a:gd name="adj" fmla="val 2206"/>
            </a:avLst>
          </a:prstGeom>
          <a:solidFill>
            <a:srgbClr val="28292A"/>
          </a:solidFill>
          <a:ln/>
        </p:spPr>
      </p:sp>
      <p:sp>
        <p:nvSpPr>
          <p:cNvPr id="8" name="Text 6"/>
          <p:cNvSpPr/>
          <p:nvPr/>
        </p:nvSpPr>
        <p:spPr>
          <a:xfrm>
            <a:off x="877568" y="5069086"/>
            <a:ext cx="4782423" cy="864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MAX_LOGIN_ATTEMPTS = 3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MIN_PASSWORD_LENGTH = 8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DEFAULT_PAGE_SIZE = 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1961" y="210373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Utilização em outros módulos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321961" y="2578398"/>
            <a:ext cx="5214609" cy="1513086"/>
          </a:xfrm>
          <a:prstGeom prst="roundRect">
            <a:avLst>
              <a:gd name="adj" fmla="val 1786"/>
            </a:avLst>
          </a:prstGeom>
          <a:solidFill>
            <a:srgbClr val="28292A"/>
          </a:solidFill>
          <a:ln/>
        </p:spPr>
      </p:sp>
      <p:sp>
        <p:nvSpPr>
          <p:cNvPr id="11" name="Text 9"/>
          <p:cNvSpPr/>
          <p:nvPr/>
        </p:nvSpPr>
        <p:spPr>
          <a:xfrm>
            <a:off x="6538054" y="2758480"/>
            <a:ext cx="4782423" cy="1152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app.constants import MAX_LOGIN_ATTEMPTS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login_attempts &gt;= MAX_LOGIN_ATTEMPTS: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block_user()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21961" y="4284663"/>
            <a:ext cx="521460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Isso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FCBB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evita duplicação de valores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e facilita a manutenção do projeto.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2026-09-29T16:39:25Z</dcterms:created>
  <dcterms:modified xsi:type="dcterms:W3CDTF">2026-09-29T16:39:25Z</dcterms:modified>
</cp:coreProperties>
</file>