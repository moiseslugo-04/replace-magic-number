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rata" charset="1" panose="00000500000000000000"/>
      <p:regular r:id="rId23"/>
    </p:embeddedFont>
    <p:embeddedFont>
      <p:font typeface="Raleway" charset="1" panose="00000000000000000000"/>
      <p:regular r:id="rId24"/>
    </p:embeddedFont>
    <p:embeddedFont>
      <p:font typeface="Raleway Bold" charset="1" panose="00000000000000000000"/>
      <p:regular r:id="rId26"/>
    </p:embeddedFont>
    <p:embeddedFont>
      <p:font typeface="Consolas" charset="1" panose="020B060902020403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4.jpeg" Type="http://schemas.openxmlformats.org/officeDocument/2006/relationships/image"/><Relationship Id="rId7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8.jpe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12.jpeg" Type="http://schemas.openxmlformats.org/officeDocument/2006/relationships/image"/><Relationship Id="rId7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6182" y="3801970"/>
            <a:ext cx="9452677" cy="1792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Replace Magic Number with Symbolic Constant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6182" y="5934161"/>
            <a:ext cx="10367762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Um refactoring para melhorar a legibilidade e a manutenção do código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858383"/>
            <a:ext cx="16315868" cy="905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O que é um Magic Number?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991" y="2867330"/>
            <a:ext cx="10363000" cy="5872439"/>
            <a:chOff x="0" y="0"/>
            <a:chExt cx="13817333" cy="7829918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3817346" cy="7829931"/>
            </a:xfrm>
            <a:custGeom>
              <a:avLst/>
              <a:gdLst/>
              <a:ahLst/>
              <a:cxnLst/>
              <a:rect r="r" b="b" t="t" l="l"/>
              <a:pathLst>
                <a:path h="7829931" w="13817346">
                  <a:moveTo>
                    <a:pt x="0" y="0"/>
                  </a:moveTo>
                  <a:lnTo>
                    <a:pt x="13817346" y="0"/>
                  </a:lnTo>
                  <a:lnTo>
                    <a:pt x="13817346" y="7829931"/>
                  </a:lnTo>
                  <a:lnTo>
                    <a:pt x="0" y="7829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7" r="0" b="-3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057793" y="2359200"/>
            <a:ext cx="5260438" cy="190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Um </a:t>
            </a:r>
            <a:r>
              <a:rPr lang="en-US" sz="2176" b="true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Magic Number</a:t>
            </a:r>
            <a:r>
              <a:rPr lang="en-US" sz="217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é um número escrito diretamente no código cujo significado </a:t>
            </a:r>
            <a:r>
              <a:rPr lang="en-US" sz="2176" b="true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não é evidente</a:t>
            </a:r>
            <a:r>
              <a:rPr lang="en-US" sz="217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para quem está lendo.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057793" y="4580039"/>
            <a:ext cx="5260438" cy="1475442"/>
            <a:chOff x="0" y="0"/>
            <a:chExt cx="7013918" cy="19672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13956" cy="1967230"/>
            </a:xfrm>
            <a:custGeom>
              <a:avLst/>
              <a:gdLst/>
              <a:ahLst/>
              <a:cxnLst/>
              <a:rect r="r" b="b" t="t" l="l"/>
              <a:pathLst>
                <a:path h="1967230" w="7013956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57187" y="0"/>
                  </a:lnTo>
                  <a:cubicBezTo>
                    <a:pt x="6988556" y="0"/>
                    <a:pt x="7013956" y="25400"/>
                    <a:pt x="7013956" y="56769"/>
                  </a:cubicBezTo>
                  <a:lnTo>
                    <a:pt x="7013956" y="1910461"/>
                  </a:lnTo>
                  <a:cubicBezTo>
                    <a:pt x="7013956" y="1941830"/>
                    <a:pt x="6988556" y="1967230"/>
                    <a:pt x="6957187" y="1967230"/>
                  </a:cubicBezTo>
                  <a:lnTo>
                    <a:pt x="56769" y="1967230"/>
                  </a:lnTo>
                  <a:cubicBezTo>
                    <a:pt x="25400" y="1967230"/>
                    <a:pt x="0" y="1941830"/>
                    <a:pt x="0" y="1910461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398273" y="4739954"/>
            <a:ext cx="4579487" cy="103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if user.age &gt;= 18: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allow_access()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57793" y="6374673"/>
            <a:ext cx="5260438" cy="1106357"/>
            <a:chOff x="0" y="0"/>
            <a:chExt cx="7013918" cy="14751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13956" cy="1475105"/>
            </a:xfrm>
            <a:custGeom>
              <a:avLst/>
              <a:gdLst/>
              <a:ahLst/>
              <a:cxnLst/>
              <a:rect r="r" b="b" t="t" l="l"/>
              <a:pathLst>
                <a:path h="1475105" w="7013956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57187" y="0"/>
                  </a:lnTo>
                  <a:cubicBezTo>
                    <a:pt x="6988556" y="0"/>
                    <a:pt x="7013956" y="25400"/>
                    <a:pt x="7013956" y="56769"/>
                  </a:cubicBezTo>
                  <a:lnTo>
                    <a:pt x="7013956" y="1418336"/>
                  </a:lnTo>
                  <a:cubicBezTo>
                    <a:pt x="7013956" y="1449705"/>
                    <a:pt x="6988556" y="1475105"/>
                    <a:pt x="6957187" y="1475105"/>
                  </a:cubicBezTo>
                  <a:lnTo>
                    <a:pt x="56769" y="1475105"/>
                  </a:lnTo>
                  <a:cubicBezTo>
                    <a:pt x="25400" y="1475105"/>
                    <a:pt x="0" y="1449705"/>
                    <a:pt x="0" y="1418336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341533" y="6805127"/>
            <a:ext cx="354625" cy="283740"/>
            <a:chOff x="0" y="0"/>
            <a:chExt cx="472834" cy="37832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472821" cy="378333"/>
            </a:xfrm>
            <a:custGeom>
              <a:avLst/>
              <a:gdLst/>
              <a:ahLst/>
              <a:cxnLst/>
              <a:rect r="r" b="b" t="t" l="l"/>
              <a:pathLst>
                <a:path h="378333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378333"/>
                  </a:lnTo>
                  <a:lnTo>
                    <a:pt x="0" y="378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74" t="0" r="-676" b="3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979889" y="6615141"/>
            <a:ext cx="4969707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 que significa </a:t>
            </a:r>
            <a:r>
              <a:rPr lang="en-US" sz="2176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18</a:t>
            </a:r>
            <a:r>
              <a:rPr lang="en-US" sz="217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57793" y="7714498"/>
            <a:ext cx="5260438" cy="14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O problema não é utilizar o número 18, mas o fato de seu </a:t>
            </a:r>
            <a:r>
              <a:rPr lang="en-US" sz="2176" b="true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significado não estar explícito</a:t>
            </a:r>
            <a:r>
              <a:rPr lang="en-US" sz="217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no código.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794642"/>
            <a:ext cx="16315868" cy="169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3"/>
              </a:lnSpc>
            </a:pPr>
            <a:r>
              <a:rPr lang="en-US" sz="5179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Por que os Magic Numbers podem ser um problema?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1092632" y="3148384"/>
            <a:ext cx="399012" cy="399021"/>
          </a:xfrm>
          <a:custGeom>
            <a:avLst/>
            <a:gdLst/>
            <a:ahLst/>
            <a:cxnLst/>
            <a:rect r="r" b="b" t="t" l="l"/>
            <a:pathLst>
              <a:path h="399021" w="399012">
                <a:moveTo>
                  <a:pt x="0" y="0"/>
                </a:moveTo>
                <a:lnTo>
                  <a:pt x="399012" y="0"/>
                </a:lnTo>
                <a:lnTo>
                  <a:pt x="399012" y="399021"/>
                </a:lnTo>
                <a:lnTo>
                  <a:pt x="0" y="3990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335" t="0" r="-8333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57442" y="3140192"/>
            <a:ext cx="6969090" cy="415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Dificultam a leitura do código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092632" y="4453290"/>
            <a:ext cx="399012" cy="399021"/>
          </a:xfrm>
          <a:custGeom>
            <a:avLst/>
            <a:gdLst/>
            <a:ahLst/>
            <a:cxnLst/>
            <a:rect r="r" b="b" t="t" l="l"/>
            <a:pathLst>
              <a:path h="399021" w="399012">
                <a:moveTo>
                  <a:pt x="0" y="0"/>
                </a:moveTo>
                <a:lnTo>
                  <a:pt x="399012" y="0"/>
                </a:lnTo>
                <a:lnTo>
                  <a:pt x="399012" y="399021"/>
                </a:lnTo>
                <a:lnTo>
                  <a:pt x="0" y="3990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335" t="0" r="-833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57442" y="4445098"/>
            <a:ext cx="6969090" cy="415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Tornam as regras do sistema obscuras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092632" y="5758196"/>
            <a:ext cx="399012" cy="399021"/>
          </a:xfrm>
          <a:custGeom>
            <a:avLst/>
            <a:gdLst/>
            <a:ahLst/>
            <a:cxnLst/>
            <a:rect r="r" b="b" t="t" l="l"/>
            <a:pathLst>
              <a:path h="399021" w="399012">
                <a:moveTo>
                  <a:pt x="0" y="0"/>
                </a:moveTo>
                <a:lnTo>
                  <a:pt x="399012" y="0"/>
                </a:lnTo>
                <a:lnTo>
                  <a:pt x="399012" y="399021"/>
                </a:lnTo>
                <a:lnTo>
                  <a:pt x="0" y="3990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335" t="0" r="-8333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57442" y="5750004"/>
            <a:ext cx="6969090" cy="415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Causam erros quando o valor se repete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1092632" y="7063092"/>
            <a:ext cx="399012" cy="399021"/>
          </a:xfrm>
          <a:custGeom>
            <a:avLst/>
            <a:gdLst/>
            <a:ahLst/>
            <a:cxnLst/>
            <a:rect r="r" b="b" t="t" l="l"/>
            <a:pathLst>
              <a:path h="399021" w="399012">
                <a:moveTo>
                  <a:pt x="0" y="0"/>
                </a:moveTo>
                <a:lnTo>
                  <a:pt x="399012" y="0"/>
                </a:lnTo>
                <a:lnTo>
                  <a:pt x="399012" y="399022"/>
                </a:lnTo>
                <a:lnTo>
                  <a:pt x="0" y="399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335" t="0" r="-8333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857442" y="7054901"/>
            <a:ext cx="6969090" cy="415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Dificultam alterações futuras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092632" y="8367998"/>
            <a:ext cx="399012" cy="399021"/>
          </a:xfrm>
          <a:custGeom>
            <a:avLst/>
            <a:gdLst/>
            <a:ahLst/>
            <a:cxnLst/>
            <a:rect r="r" b="b" t="t" l="l"/>
            <a:pathLst>
              <a:path h="399021" w="399012">
                <a:moveTo>
                  <a:pt x="0" y="0"/>
                </a:moveTo>
                <a:lnTo>
                  <a:pt x="399012" y="0"/>
                </a:lnTo>
                <a:lnTo>
                  <a:pt x="399012" y="399022"/>
                </a:lnTo>
                <a:lnTo>
                  <a:pt x="0" y="399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335" t="0" r="-8333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857442" y="8359807"/>
            <a:ext cx="6969090" cy="831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Escondem informações importantes do negócio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84843" y="3140192"/>
            <a:ext cx="7833541" cy="2659704"/>
            <a:chOff x="0" y="0"/>
            <a:chExt cx="10444721" cy="35462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44734" cy="3546348"/>
            </a:xfrm>
            <a:custGeom>
              <a:avLst/>
              <a:gdLst/>
              <a:ahLst/>
              <a:cxnLst/>
              <a:rect r="r" b="b" t="t" l="l"/>
              <a:pathLst>
                <a:path h="3546348" w="10444734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10391521" y="0"/>
                  </a:lnTo>
                  <a:cubicBezTo>
                    <a:pt x="10420858" y="0"/>
                    <a:pt x="10444734" y="23876"/>
                    <a:pt x="10444734" y="53213"/>
                  </a:cubicBezTo>
                  <a:lnTo>
                    <a:pt x="10444734" y="3493135"/>
                  </a:lnTo>
                  <a:cubicBezTo>
                    <a:pt x="10444734" y="3522472"/>
                    <a:pt x="10420858" y="3546348"/>
                    <a:pt x="10391521" y="3546348"/>
                  </a:cubicBezTo>
                  <a:lnTo>
                    <a:pt x="53213" y="3546348"/>
                  </a:lnTo>
                  <a:cubicBezTo>
                    <a:pt x="23876" y="3546348"/>
                    <a:pt x="0" y="3522472"/>
                    <a:pt x="0" y="3493135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804025" y="3291916"/>
            <a:ext cx="7195175" cy="224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if user.age &gt;= 18:</a:t>
            </a:r>
          </a:p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allow_access()</a:t>
            </a:r>
          </a:p>
          <a:p>
            <a:pPr algn="l">
              <a:lnSpc>
                <a:spcPts val="3234"/>
              </a:lnSpc>
            </a:pPr>
          </a:p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if user.age &lt; 18:</a:t>
            </a:r>
          </a:p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deny_access()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84843" y="6004160"/>
            <a:ext cx="7833541" cy="90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Os dois valores </a:t>
            </a:r>
            <a:r>
              <a:rPr lang="en-US" sz="2026" b="true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18</a:t>
            </a:r>
            <a:r>
              <a:rPr lang="en-US" sz="202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representam a mesma regra, mas o código não deixa isso explícito.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6182" y="1070620"/>
            <a:ext cx="9452677" cy="59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6"/>
              </a:lnSpc>
            </a:pPr>
            <a:r>
              <a:rPr lang="en-US" sz="3602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O que acontece quando o valor se repete?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56182" y="1845269"/>
            <a:ext cx="9452677" cy="1861804"/>
            <a:chOff x="0" y="0"/>
            <a:chExt cx="12603569" cy="24824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03480" cy="2482342"/>
            </a:xfrm>
            <a:custGeom>
              <a:avLst/>
              <a:gdLst/>
              <a:ahLst/>
              <a:cxnLst/>
              <a:rect r="r" b="b" t="t" l="l"/>
              <a:pathLst>
                <a:path h="2482342" w="12603480">
                  <a:moveTo>
                    <a:pt x="0" y="37211"/>
                  </a:moveTo>
                  <a:cubicBezTo>
                    <a:pt x="0" y="16637"/>
                    <a:pt x="16637" y="0"/>
                    <a:pt x="37211" y="0"/>
                  </a:cubicBezTo>
                  <a:lnTo>
                    <a:pt x="12566269" y="0"/>
                  </a:lnTo>
                  <a:cubicBezTo>
                    <a:pt x="12586843" y="0"/>
                    <a:pt x="12603480" y="16637"/>
                    <a:pt x="12603480" y="37211"/>
                  </a:cubicBezTo>
                  <a:lnTo>
                    <a:pt x="12603480" y="2445131"/>
                  </a:lnTo>
                  <a:cubicBezTo>
                    <a:pt x="12603480" y="2465705"/>
                    <a:pt x="12586843" y="2482342"/>
                    <a:pt x="12566269" y="2482342"/>
                  </a:cubicBezTo>
                  <a:lnTo>
                    <a:pt x="37211" y="2482342"/>
                  </a:lnTo>
                  <a:cubicBezTo>
                    <a:pt x="16637" y="2482342"/>
                    <a:pt x="0" y="2465705"/>
                    <a:pt x="0" y="2445131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079591" y="1945729"/>
            <a:ext cx="9005849" cy="1575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"/>
              </a:lnSpc>
            </a:pPr>
            <a:r>
              <a:rPr lang="en-US" sz="142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if attempts &gt;= 3:</a:t>
            </a:r>
          </a:p>
          <a:p>
            <a:pPr algn="l">
              <a:lnSpc>
                <a:spcPts val="2276"/>
              </a:lnSpc>
            </a:pPr>
            <a:r>
              <a:rPr lang="en-US" sz="142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block_user()</a:t>
            </a:r>
          </a:p>
          <a:p>
            <a:pPr algn="l">
              <a:lnSpc>
                <a:spcPts val="2276"/>
              </a:lnSpc>
            </a:pPr>
          </a:p>
          <a:p>
            <a:pPr algn="l">
              <a:lnSpc>
                <a:spcPts val="2276"/>
              </a:lnSpc>
            </a:pPr>
            <a:r>
              <a:rPr lang="en-US" sz="142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if attempts == 3:</a:t>
            </a:r>
          </a:p>
          <a:p>
            <a:pPr algn="l">
              <a:lnSpc>
                <a:spcPts val="2276"/>
              </a:lnSpc>
            </a:pPr>
            <a:r>
              <a:rPr lang="en-US" sz="142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notify_admin()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56182" y="3825507"/>
            <a:ext cx="9452677" cy="51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2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Se a regra mudar de </a:t>
            </a:r>
            <a:r>
              <a:rPr lang="en-US" sz="1426" b="true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3 tentativas</a:t>
            </a:r>
            <a:r>
              <a:rPr lang="en-US" sz="142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para </a:t>
            </a:r>
            <a:r>
              <a:rPr lang="en-US" sz="1426" b="true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5</a:t>
            </a:r>
            <a:r>
              <a:rPr lang="en-US" sz="142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, precisamos encontrar </a:t>
            </a:r>
            <a:r>
              <a:rPr lang="en-US" sz="1426" b="true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todos os lugares</a:t>
            </a:r>
            <a:r>
              <a:rPr lang="en-US" sz="142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onde esse valor aparece e alterá-los manualmente.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913505" y="4475331"/>
            <a:ext cx="7338012" cy="4355287"/>
            <a:chOff x="0" y="0"/>
            <a:chExt cx="9784016" cy="580705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9784080" cy="5807075"/>
            </a:xfrm>
            <a:custGeom>
              <a:avLst/>
              <a:gdLst/>
              <a:ahLst/>
              <a:cxnLst/>
              <a:rect r="r" b="b" t="t" l="l"/>
              <a:pathLst>
                <a:path h="5807075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5807075"/>
                  </a:lnTo>
                  <a:lnTo>
                    <a:pt x="0" y="58070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4020886" y="7625639"/>
            <a:ext cx="1824085" cy="721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176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Alterar Manual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22046" y="7801337"/>
            <a:ext cx="1824076" cy="37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176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Procurar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85725" y="7801337"/>
            <a:ext cx="1824085" cy="37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176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Valor 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56182" y="8949042"/>
            <a:ext cx="10367762" cy="26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2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O mesmo valor pode representar uma </a:t>
            </a:r>
            <a:r>
              <a:rPr lang="en-US" sz="1426" b="true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única regra do sistema</a:t>
            </a:r>
            <a:r>
              <a:rPr lang="en-US" sz="142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765591"/>
            <a:ext cx="16315868" cy="170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7"/>
              </a:lnSpc>
            </a:pPr>
            <a:r>
              <a:rPr lang="en-US" sz="5254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O que o Replace Magic Number with Symbolic Constant propõe?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806941" y="2990660"/>
            <a:ext cx="12687967" cy="5807050"/>
            <a:chOff x="0" y="0"/>
            <a:chExt cx="16917289" cy="7742733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6917288" cy="7742682"/>
            </a:xfrm>
            <a:custGeom>
              <a:avLst/>
              <a:gdLst/>
              <a:ahLst/>
              <a:cxnLst/>
              <a:rect r="r" b="b" t="t" l="l"/>
              <a:pathLst>
                <a:path h="7742682" w="16917288">
                  <a:moveTo>
                    <a:pt x="0" y="0"/>
                  </a:moveTo>
                  <a:lnTo>
                    <a:pt x="16917288" y="0"/>
                  </a:lnTo>
                  <a:lnTo>
                    <a:pt x="16917288" y="7742682"/>
                  </a:lnTo>
                  <a:lnTo>
                    <a:pt x="0" y="7742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0" r="0" b="-3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522194" y="7409193"/>
            <a:ext cx="2382088" cy="46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Substituir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0114" y="7409193"/>
            <a:ext cx="2382088" cy="46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Nomear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34350" y="7409193"/>
            <a:ext cx="2382088" cy="46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Entender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83321" y="7409193"/>
            <a:ext cx="2382088" cy="46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Identificar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991" y="9001973"/>
            <a:ext cx="17230954" cy="50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Esse processo transforma valores obscuros em </a:t>
            </a:r>
            <a:r>
              <a:rPr lang="en-US" sz="2101" b="true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regras explícitas e autoexplicativas</a:t>
            </a:r>
            <a:r>
              <a:rPr lang="en-US" sz="210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no código.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2243271"/>
            <a:ext cx="16315868" cy="905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Antes e depois do refactoring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8641" y="3574523"/>
            <a:ext cx="8220485" cy="4458052"/>
            <a:chOff x="0" y="0"/>
            <a:chExt cx="10960646" cy="59440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60608" cy="5944108"/>
            </a:xfrm>
            <a:custGeom>
              <a:avLst/>
              <a:gdLst/>
              <a:ahLst/>
              <a:cxnLst/>
              <a:rect r="r" b="b" t="t" l="l"/>
              <a:pathLst>
                <a:path h="5944108" w="1096060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903838" y="0"/>
                  </a:lnTo>
                  <a:cubicBezTo>
                    <a:pt x="10935208" y="0"/>
                    <a:pt x="10960608" y="25400"/>
                    <a:pt x="10960608" y="56769"/>
                  </a:cubicBezTo>
                  <a:lnTo>
                    <a:pt x="10960608" y="5887339"/>
                  </a:lnTo>
                  <a:cubicBezTo>
                    <a:pt x="10960608" y="5918708"/>
                    <a:pt x="10935208" y="5944108"/>
                    <a:pt x="10903838" y="5944108"/>
                  </a:cubicBezTo>
                  <a:lnTo>
                    <a:pt x="56769" y="5944108"/>
                  </a:lnTo>
                  <a:cubicBezTo>
                    <a:pt x="25400" y="5944108"/>
                    <a:pt x="0" y="5918708"/>
                    <a:pt x="0" y="5887339"/>
                  </a:cubicBezTo>
                  <a:close/>
                </a:path>
              </a:pathLst>
            </a:custGeom>
            <a:solidFill>
              <a:srgbClr val="957D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72372" y="3848738"/>
            <a:ext cx="7653023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ANTES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72372" y="4620701"/>
            <a:ext cx="7653023" cy="1475442"/>
            <a:chOff x="0" y="0"/>
            <a:chExt cx="10204031" cy="19672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04069" cy="1967230"/>
            </a:xfrm>
            <a:custGeom>
              <a:avLst/>
              <a:gdLst/>
              <a:ahLst/>
              <a:cxnLst/>
              <a:rect r="r" b="b" t="t" l="l"/>
              <a:pathLst>
                <a:path h="1967230" w="10204069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147300" y="0"/>
                  </a:lnTo>
                  <a:cubicBezTo>
                    <a:pt x="10178669" y="0"/>
                    <a:pt x="10204069" y="25400"/>
                    <a:pt x="10204069" y="56769"/>
                  </a:cubicBezTo>
                  <a:lnTo>
                    <a:pt x="10204069" y="1910461"/>
                  </a:lnTo>
                  <a:cubicBezTo>
                    <a:pt x="10204069" y="1941830"/>
                    <a:pt x="10178669" y="1967230"/>
                    <a:pt x="10147300" y="1967230"/>
                  </a:cubicBezTo>
                  <a:lnTo>
                    <a:pt x="56769" y="1967230"/>
                  </a:lnTo>
                  <a:cubicBezTo>
                    <a:pt x="25400" y="1967230"/>
                    <a:pt x="0" y="1941830"/>
                    <a:pt x="0" y="1910461"/>
                  </a:cubicBezTo>
                  <a:close/>
                </a:path>
              </a:pathLst>
            </a:custGeom>
            <a:solidFill>
              <a:srgbClr val="A28A0D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412853" y="4780617"/>
            <a:ext cx="6972062" cy="103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if user.age &gt;= 18: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allow_access()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2372" y="6329610"/>
            <a:ext cx="8568118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 valor </a:t>
            </a:r>
            <a:r>
              <a:rPr lang="en-US" sz="2176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18</a:t>
            </a:r>
            <a:r>
              <a:rPr lang="en-US" sz="217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aparece sem contexto ou significado.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06588" y="3848738"/>
            <a:ext cx="7811795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DEPOIS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506588" y="4620701"/>
            <a:ext cx="7811795" cy="2383412"/>
            <a:chOff x="0" y="0"/>
            <a:chExt cx="10415727" cy="31778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15778" cy="3177921"/>
            </a:xfrm>
            <a:custGeom>
              <a:avLst/>
              <a:gdLst/>
              <a:ahLst/>
              <a:cxnLst/>
              <a:rect r="r" b="b" t="t" l="l"/>
              <a:pathLst>
                <a:path h="3177921" w="104157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359009" y="0"/>
                  </a:lnTo>
                  <a:cubicBezTo>
                    <a:pt x="10390378" y="0"/>
                    <a:pt x="10415778" y="25400"/>
                    <a:pt x="10415778" y="56769"/>
                  </a:cubicBezTo>
                  <a:lnTo>
                    <a:pt x="10415778" y="3121152"/>
                  </a:lnTo>
                  <a:cubicBezTo>
                    <a:pt x="10415778" y="3152521"/>
                    <a:pt x="10390378" y="3177921"/>
                    <a:pt x="10359009" y="3177921"/>
                  </a:cubicBezTo>
                  <a:lnTo>
                    <a:pt x="56769" y="3177921"/>
                  </a:lnTo>
                  <a:cubicBezTo>
                    <a:pt x="25400" y="3177921"/>
                    <a:pt x="0" y="3152521"/>
                    <a:pt x="0" y="3121152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847069" y="4780617"/>
            <a:ext cx="7130834" cy="1939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MINIMUM_AGE = 18</a:t>
            </a:r>
          </a:p>
          <a:p>
            <a:pPr algn="l">
              <a:lnSpc>
                <a:spcPts val="3474"/>
              </a:lnSpc>
            </a:pP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if user.age &gt;= MINIMUM_AGE: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allow_access()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06588" y="7237581"/>
            <a:ext cx="8726891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Agora o próprio código deixa claro o </a:t>
            </a:r>
            <a:r>
              <a:rPr lang="en-US" sz="2176" b="true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significado do valor</a:t>
            </a:r>
            <a:r>
              <a:rPr lang="en-US" sz="217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787184"/>
            <a:ext cx="9452677" cy="79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Por que usar uma constante?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2115322"/>
            <a:ext cx="4423543" cy="39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ANTES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991" y="2757106"/>
            <a:ext cx="4423543" cy="1687992"/>
            <a:chOff x="0" y="0"/>
            <a:chExt cx="5898058" cy="22506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898007" cy="2250694"/>
            </a:xfrm>
            <a:custGeom>
              <a:avLst/>
              <a:gdLst/>
              <a:ahLst/>
              <a:cxnLst/>
              <a:rect r="r" b="b" t="t" l="l"/>
              <a:pathLst>
                <a:path h="2250694" w="5898007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5848350" y="0"/>
                  </a:lnTo>
                  <a:cubicBezTo>
                    <a:pt x="5875782" y="0"/>
                    <a:pt x="5898007" y="22225"/>
                    <a:pt x="5898007" y="49657"/>
                  </a:cubicBezTo>
                  <a:lnTo>
                    <a:pt x="5898007" y="2201037"/>
                  </a:lnTo>
                  <a:cubicBezTo>
                    <a:pt x="5898007" y="2228469"/>
                    <a:pt x="5875782" y="2250694"/>
                    <a:pt x="5848350" y="2250694"/>
                  </a:cubicBezTo>
                  <a:lnTo>
                    <a:pt x="49657" y="2250694"/>
                  </a:lnTo>
                  <a:cubicBezTo>
                    <a:pt x="22225" y="2250694"/>
                    <a:pt x="0" y="2228469"/>
                    <a:pt x="0" y="2201037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90866" y="2890952"/>
            <a:ext cx="3827774" cy="1306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if len(password) &lt; 8:</a:t>
            </a:r>
          </a:p>
          <a:p>
            <a:pPr algn="l">
              <a:lnSpc>
                <a:spcPts val="3114"/>
              </a:lnSpc>
            </a:pPr>
            <a:r>
              <a:rPr lang="en-US" sz="195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raise ValueError(</a:t>
            </a:r>
          </a:p>
          <a:p>
            <a:pPr algn="l">
              <a:lnSpc>
                <a:spcPts val="3114"/>
              </a:lnSpc>
            </a:pPr>
            <a:r>
              <a:rPr lang="en-US" sz="195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"Password too short")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852922" y="1907686"/>
            <a:ext cx="4780998" cy="3973392"/>
            <a:chOff x="0" y="0"/>
            <a:chExt cx="6374663" cy="52978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74638" cy="5297932"/>
            </a:xfrm>
            <a:custGeom>
              <a:avLst/>
              <a:gdLst/>
              <a:ahLst/>
              <a:cxnLst/>
              <a:rect r="r" b="b" t="t" l="l"/>
              <a:pathLst>
                <a:path h="5297932" w="637463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324981" y="0"/>
                  </a:lnTo>
                  <a:cubicBezTo>
                    <a:pt x="6352413" y="0"/>
                    <a:pt x="6374638" y="22225"/>
                    <a:pt x="6374638" y="49657"/>
                  </a:cubicBezTo>
                  <a:lnTo>
                    <a:pt x="6374638" y="5248275"/>
                  </a:lnTo>
                  <a:cubicBezTo>
                    <a:pt x="6374638" y="5275707"/>
                    <a:pt x="6352413" y="5297932"/>
                    <a:pt x="6324981" y="5297932"/>
                  </a:cubicBezTo>
                  <a:lnTo>
                    <a:pt x="49657" y="5297932"/>
                  </a:lnTo>
                  <a:cubicBezTo>
                    <a:pt x="22225" y="5297932"/>
                    <a:pt x="0" y="5275707"/>
                    <a:pt x="0" y="5248275"/>
                  </a:cubicBezTo>
                  <a:close/>
                </a:path>
              </a:pathLst>
            </a:custGeom>
            <a:solidFill>
              <a:srgbClr val="957D0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101058" y="2115322"/>
            <a:ext cx="4284726" cy="39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DEPOIS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01058" y="2757106"/>
            <a:ext cx="4284726" cy="2879693"/>
            <a:chOff x="0" y="0"/>
            <a:chExt cx="5712968" cy="38395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12968" cy="3839591"/>
            </a:xfrm>
            <a:custGeom>
              <a:avLst/>
              <a:gdLst/>
              <a:ahLst/>
              <a:cxnLst/>
              <a:rect r="r" b="b" t="t" l="l"/>
              <a:pathLst>
                <a:path h="3839591" w="571296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5663311" y="0"/>
                  </a:lnTo>
                  <a:cubicBezTo>
                    <a:pt x="5690743" y="0"/>
                    <a:pt x="5712968" y="22225"/>
                    <a:pt x="5712968" y="49657"/>
                  </a:cubicBezTo>
                  <a:lnTo>
                    <a:pt x="5712968" y="3789934"/>
                  </a:lnTo>
                  <a:cubicBezTo>
                    <a:pt x="5712968" y="3817366"/>
                    <a:pt x="5690743" y="3839591"/>
                    <a:pt x="5663311" y="3839591"/>
                  </a:cubicBezTo>
                  <a:lnTo>
                    <a:pt x="49657" y="3839591"/>
                  </a:lnTo>
                  <a:cubicBezTo>
                    <a:pt x="22225" y="3839591"/>
                    <a:pt x="0" y="3817366"/>
                    <a:pt x="0" y="3789934"/>
                  </a:cubicBezTo>
                  <a:close/>
                </a:path>
              </a:pathLst>
            </a:custGeom>
            <a:solidFill>
              <a:srgbClr val="A28A0D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398943" y="2890952"/>
            <a:ext cx="3688966" cy="249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MIN_PASSWORD_LENGTH = 8</a:t>
            </a:r>
          </a:p>
          <a:p>
            <a:pPr algn="l">
              <a:lnSpc>
                <a:spcPts val="3114"/>
              </a:lnSpc>
            </a:pPr>
          </a:p>
          <a:p>
            <a:pPr algn="l">
              <a:lnSpc>
                <a:spcPts val="3114"/>
              </a:lnSpc>
            </a:pPr>
            <a:r>
              <a:rPr lang="en-US" sz="195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if len(password) &lt; MIN_PASSWORD_LENGTH:</a:t>
            </a:r>
          </a:p>
          <a:p>
            <a:pPr algn="l">
              <a:lnSpc>
                <a:spcPts val="3114"/>
              </a:lnSpc>
            </a:pPr>
            <a:r>
              <a:rPr lang="en-US" sz="195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raise ValueError(</a:t>
            </a:r>
          </a:p>
          <a:p>
            <a:pPr algn="l">
              <a:lnSpc>
                <a:spcPts val="3114"/>
              </a:lnSpc>
            </a:pPr>
            <a:r>
              <a:rPr lang="en-US" sz="195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"Password too short")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991" y="6125347"/>
            <a:ext cx="4617758" cy="1759334"/>
            <a:chOff x="0" y="0"/>
            <a:chExt cx="6157011" cy="234577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56960" cy="2345817"/>
            </a:xfrm>
            <a:custGeom>
              <a:avLst/>
              <a:gdLst/>
              <a:ahLst/>
              <a:cxnLst/>
              <a:rect r="r" b="b" t="t" l="l"/>
              <a:pathLst>
                <a:path h="2345817" w="6156960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107303" y="0"/>
                  </a:lnTo>
                  <a:cubicBezTo>
                    <a:pt x="6134735" y="0"/>
                    <a:pt x="6156960" y="22225"/>
                    <a:pt x="6156960" y="49657"/>
                  </a:cubicBezTo>
                  <a:lnTo>
                    <a:pt x="6156960" y="2296160"/>
                  </a:lnTo>
                  <a:cubicBezTo>
                    <a:pt x="6156960" y="2323592"/>
                    <a:pt x="6134735" y="2345817"/>
                    <a:pt x="6107303" y="2345817"/>
                  </a:cubicBezTo>
                  <a:lnTo>
                    <a:pt x="49657" y="2345817"/>
                  </a:lnTo>
                  <a:cubicBezTo>
                    <a:pt x="22225" y="2345817"/>
                    <a:pt x="0" y="2323592"/>
                    <a:pt x="0" y="2296160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41127" y="6363957"/>
            <a:ext cx="4121487" cy="39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Mais legível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1127" y="6825139"/>
            <a:ext cx="4121487" cy="43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O significado do valor fica explícito.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827900" y="6125347"/>
            <a:ext cx="4617758" cy="1759334"/>
            <a:chOff x="0" y="0"/>
            <a:chExt cx="6157011" cy="23457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156960" cy="2345817"/>
            </a:xfrm>
            <a:custGeom>
              <a:avLst/>
              <a:gdLst/>
              <a:ahLst/>
              <a:cxnLst/>
              <a:rect r="r" b="b" t="t" l="l"/>
              <a:pathLst>
                <a:path h="2345817" w="6156960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107303" y="0"/>
                  </a:lnTo>
                  <a:cubicBezTo>
                    <a:pt x="6134735" y="0"/>
                    <a:pt x="6156960" y="22225"/>
                    <a:pt x="6156960" y="49657"/>
                  </a:cubicBezTo>
                  <a:lnTo>
                    <a:pt x="6156960" y="2296160"/>
                  </a:lnTo>
                  <a:cubicBezTo>
                    <a:pt x="6156960" y="2323592"/>
                    <a:pt x="6134735" y="2345817"/>
                    <a:pt x="6107303" y="2345817"/>
                  </a:cubicBezTo>
                  <a:lnTo>
                    <a:pt x="49657" y="2345817"/>
                  </a:lnTo>
                  <a:cubicBezTo>
                    <a:pt x="22225" y="2345817"/>
                    <a:pt x="0" y="2323592"/>
                    <a:pt x="0" y="2296160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6076036" y="6363957"/>
            <a:ext cx="4121487" cy="39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Fácil de manter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076036" y="6825139"/>
            <a:ext cx="4121487" cy="811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 regra pode ser alterada em um único lugar.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92991" y="8101832"/>
            <a:ext cx="9452677" cy="1386973"/>
            <a:chOff x="0" y="0"/>
            <a:chExt cx="12603569" cy="184929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603607" cy="1849247"/>
            </a:xfrm>
            <a:custGeom>
              <a:avLst/>
              <a:gdLst/>
              <a:ahLst/>
              <a:cxnLst/>
              <a:rect r="r" b="b" t="t" l="l"/>
              <a:pathLst>
                <a:path h="1849247" w="12603607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2553950" y="0"/>
                  </a:lnTo>
                  <a:cubicBezTo>
                    <a:pt x="12581382" y="0"/>
                    <a:pt x="12603607" y="22225"/>
                    <a:pt x="12603607" y="49657"/>
                  </a:cubicBezTo>
                  <a:lnTo>
                    <a:pt x="12603607" y="1799590"/>
                  </a:lnTo>
                  <a:cubicBezTo>
                    <a:pt x="12603607" y="1827022"/>
                    <a:pt x="12581382" y="1849247"/>
                    <a:pt x="12553950" y="1849247"/>
                  </a:cubicBezTo>
                  <a:lnTo>
                    <a:pt x="49657" y="1849247"/>
                  </a:lnTo>
                  <a:cubicBezTo>
                    <a:pt x="22225" y="1849247"/>
                    <a:pt x="0" y="1827022"/>
                    <a:pt x="0" y="1799590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41127" y="8340452"/>
            <a:ext cx="8956405" cy="39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Menos erros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1127" y="8801633"/>
            <a:ext cx="8956405" cy="43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Elimina a duplicação de valores literais.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1261720"/>
            <a:ext cx="16315868" cy="905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Como representar constantes em Python?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2649198"/>
            <a:ext cx="16315868" cy="99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Python não possui uma palavra-chave específica para declarar constantes. Por convenção, constantes são escritas utilizando </a:t>
            </a:r>
            <a:r>
              <a:rPr lang="en-US" sz="2176" b="true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MAIÚSCULAS + SNAKE_CASE</a:t>
            </a:r>
            <a:r>
              <a:rPr lang="en-US" sz="217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991" y="4281259"/>
            <a:ext cx="7811795" cy="2383412"/>
            <a:chOff x="0" y="0"/>
            <a:chExt cx="10415727" cy="31778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15778" cy="3177921"/>
            </a:xfrm>
            <a:custGeom>
              <a:avLst/>
              <a:gdLst/>
              <a:ahLst/>
              <a:cxnLst/>
              <a:rect r="r" b="b" t="t" l="l"/>
              <a:pathLst>
                <a:path h="3177921" w="104157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359009" y="0"/>
                  </a:lnTo>
                  <a:cubicBezTo>
                    <a:pt x="10390378" y="0"/>
                    <a:pt x="10415778" y="25400"/>
                    <a:pt x="10415778" y="56769"/>
                  </a:cubicBezTo>
                  <a:lnTo>
                    <a:pt x="10415778" y="3121152"/>
                  </a:lnTo>
                  <a:cubicBezTo>
                    <a:pt x="10415778" y="3152521"/>
                    <a:pt x="10390378" y="3177921"/>
                    <a:pt x="10359009" y="3177921"/>
                  </a:cubicBezTo>
                  <a:lnTo>
                    <a:pt x="56769" y="3177921"/>
                  </a:lnTo>
                  <a:cubicBezTo>
                    <a:pt x="25400" y="3177921"/>
                    <a:pt x="0" y="3152521"/>
                    <a:pt x="0" y="3121152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33462" y="4441174"/>
            <a:ext cx="7130834" cy="1939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MAX_LOGIN_ATTEMPTS = 3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MIN_PASSWORD_LENGTH = 8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DEFAULT_PAGE_SIZE = 20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TAX_RATE = 0.10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06588" y="4131640"/>
            <a:ext cx="7811795" cy="99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Essa convenção indica para outros desenvolvedores que esses valores devem ser tratados como </a:t>
            </a:r>
            <a:r>
              <a:rPr lang="en-US" sz="2176" b="true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constantes</a:t>
            </a:r>
            <a:r>
              <a:rPr lang="en-US" sz="217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73922" y="7283987"/>
            <a:ext cx="8054121" cy="1749352"/>
            <a:chOff x="0" y="0"/>
            <a:chExt cx="10738828" cy="23324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38866" cy="2332482"/>
            </a:xfrm>
            <a:custGeom>
              <a:avLst/>
              <a:gdLst/>
              <a:ahLst/>
              <a:cxnLst/>
              <a:rect r="r" b="b" t="t" l="l"/>
              <a:pathLst>
                <a:path h="2332482" w="10738866">
                  <a:moveTo>
                    <a:pt x="0" y="58039"/>
                  </a:moveTo>
                  <a:cubicBezTo>
                    <a:pt x="0" y="25908"/>
                    <a:pt x="25908" y="0"/>
                    <a:pt x="58039" y="0"/>
                  </a:cubicBezTo>
                  <a:lnTo>
                    <a:pt x="10680827" y="0"/>
                  </a:lnTo>
                  <a:cubicBezTo>
                    <a:pt x="10712831" y="0"/>
                    <a:pt x="10738866" y="25908"/>
                    <a:pt x="10738866" y="58039"/>
                  </a:cubicBezTo>
                  <a:lnTo>
                    <a:pt x="10738866" y="2274443"/>
                  </a:lnTo>
                  <a:cubicBezTo>
                    <a:pt x="10738866" y="2306447"/>
                    <a:pt x="10712958" y="2332482"/>
                    <a:pt x="10680827" y="2332482"/>
                  </a:cubicBezTo>
                  <a:lnTo>
                    <a:pt x="58039" y="2332482"/>
                  </a:lnTo>
                  <a:cubicBezTo>
                    <a:pt x="26035" y="2332482"/>
                    <a:pt x="0" y="2306574"/>
                    <a:pt x="0" y="2274443"/>
                  </a:cubicBezTo>
                  <a:close/>
                </a:path>
              </a:pathLst>
            </a:custGeom>
            <a:solidFill>
              <a:srgbClr val="1B1C1D"/>
            </a:solidFill>
            <a:ln w="38128" cap="sq">
              <a:solidFill>
                <a:srgbClr val="535455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314850" y="7615390"/>
            <a:ext cx="7372274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MAIÚSCULAS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4850" y="8152695"/>
            <a:ext cx="7372274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Indica que o valor não deve ser alterado.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73645" y="7283987"/>
            <a:ext cx="8054273" cy="1749352"/>
            <a:chOff x="0" y="0"/>
            <a:chExt cx="10739031" cy="23324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39120" cy="2332482"/>
            </a:xfrm>
            <a:custGeom>
              <a:avLst/>
              <a:gdLst/>
              <a:ahLst/>
              <a:cxnLst/>
              <a:rect r="r" b="b" t="t" l="l"/>
              <a:pathLst>
                <a:path h="2332482" w="10739120">
                  <a:moveTo>
                    <a:pt x="0" y="58039"/>
                  </a:moveTo>
                  <a:cubicBezTo>
                    <a:pt x="0" y="25908"/>
                    <a:pt x="25908" y="0"/>
                    <a:pt x="58039" y="0"/>
                  </a:cubicBezTo>
                  <a:lnTo>
                    <a:pt x="10681081" y="0"/>
                  </a:lnTo>
                  <a:cubicBezTo>
                    <a:pt x="10713086" y="0"/>
                    <a:pt x="10739120" y="25908"/>
                    <a:pt x="10739120" y="58039"/>
                  </a:cubicBezTo>
                  <a:lnTo>
                    <a:pt x="10739120" y="2274443"/>
                  </a:lnTo>
                  <a:cubicBezTo>
                    <a:pt x="10739120" y="2306447"/>
                    <a:pt x="10713213" y="2332482"/>
                    <a:pt x="10681081" y="2332482"/>
                  </a:cubicBezTo>
                  <a:lnTo>
                    <a:pt x="58039" y="2332482"/>
                  </a:lnTo>
                  <a:cubicBezTo>
                    <a:pt x="26035" y="2332482"/>
                    <a:pt x="0" y="2306574"/>
                    <a:pt x="0" y="2274443"/>
                  </a:cubicBezTo>
                  <a:close/>
                </a:path>
              </a:pathLst>
            </a:custGeom>
            <a:solidFill>
              <a:srgbClr val="1B1C1D"/>
            </a:solidFill>
            <a:ln w="38128" cap="sq">
              <a:solidFill>
                <a:srgbClr val="535455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614573" y="7615390"/>
            <a:ext cx="7372417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SNAKE_CASE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14573" y="8152695"/>
            <a:ext cx="7372417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Padrão de nomenclatura para constantes em Python.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831723"/>
            <a:ext cx="16315868" cy="6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4"/>
              </a:lnSpc>
            </a:pPr>
            <a:r>
              <a:rPr lang="en-US" sz="3978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Exemplos práticos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991" y="1781080"/>
            <a:ext cx="3549110" cy="2193503"/>
            <a:chOff x="0" y="0"/>
            <a:chExt cx="4732147" cy="292467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4732147" cy="2924683"/>
            </a:xfrm>
            <a:custGeom>
              <a:avLst/>
              <a:gdLst/>
              <a:ahLst/>
              <a:cxnLst/>
              <a:rect r="r" b="b" t="t" l="l"/>
              <a:pathLst>
                <a:path h="2924683" w="4732147">
                  <a:moveTo>
                    <a:pt x="0" y="0"/>
                  </a:moveTo>
                  <a:lnTo>
                    <a:pt x="4732147" y="0"/>
                  </a:lnTo>
                  <a:lnTo>
                    <a:pt x="4732147" y="2924683"/>
                  </a:lnTo>
                  <a:lnTo>
                    <a:pt x="0" y="2924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2" r="0" b="-10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2991" y="4148261"/>
            <a:ext cx="8066332" cy="32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Autenticação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991" y="4526309"/>
            <a:ext cx="8066332" cy="31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76" b="true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ANTES: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991" y="5009598"/>
            <a:ext cx="8066332" cy="1060190"/>
            <a:chOff x="0" y="0"/>
            <a:chExt cx="10755109" cy="14135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55123" cy="1413510"/>
            </a:xfrm>
            <a:custGeom>
              <a:avLst/>
              <a:gdLst/>
              <a:ahLst/>
              <a:cxnLst/>
              <a:rect r="r" b="b" t="t" l="l"/>
              <a:pathLst>
                <a:path h="1413510" w="10755123">
                  <a:moveTo>
                    <a:pt x="0" y="40767"/>
                  </a:moveTo>
                  <a:cubicBezTo>
                    <a:pt x="0" y="18288"/>
                    <a:pt x="18288" y="0"/>
                    <a:pt x="40767" y="0"/>
                  </a:cubicBezTo>
                  <a:lnTo>
                    <a:pt x="10714355" y="0"/>
                  </a:lnTo>
                  <a:cubicBezTo>
                    <a:pt x="10736835" y="0"/>
                    <a:pt x="10755123" y="18288"/>
                    <a:pt x="10755123" y="40767"/>
                  </a:cubicBezTo>
                  <a:lnTo>
                    <a:pt x="10755123" y="1372743"/>
                  </a:lnTo>
                  <a:cubicBezTo>
                    <a:pt x="10755123" y="1395222"/>
                    <a:pt x="10736835" y="1413510"/>
                    <a:pt x="10714355" y="1413510"/>
                  </a:cubicBezTo>
                  <a:lnTo>
                    <a:pt x="40767" y="1413510"/>
                  </a:lnTo>
                  <a:cubicBezTo>
                    <a:pt x="18288" y="1413510"/>
                    <a:pt x="0" y="1395222"/>
                    <a:pt x="0" y="1372743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37698" y="5118259"/>
            <a:ext cx="7576918" cy="747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if login_attempts &gt;= 3: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block_user()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991" y="6196565"/>
            <a:ext cx="8066332" cy="31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76" b="true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DEPOIS: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92991" y="6679863"/>
            <a:ext cx="8066332" cy="1386373"/>
            <a:chOff x="0" y="0"/>
            <a:chExt cx="10755109" cy="18484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55123" cy="1848485"/>
            </a:xfrm>
            <a:custGeom>
              <a:avLst/>
              <a:gdLst/>
              <a:ahLst/>
              <a:cxnLst/>
              <a:rect r="r" b="b" t="t" l="l"/>
              <a:pathLst>
                <a:path h="1848485" w="10755123">
                  <a:moveTo>
                    <a:pt x="0" y="40767"/>
                  </a:moveTo>
                  <a:cubicBezTo>
                    <a:pt x="0" y="18288"/>
                    <a:pt x="18288" y="0"/>
                    <a:pt x="40767" y="0"/>
                  </a:cubicBezTo>
                  <a:lnTo>
                    <a:pt x="10714355" y="0"/>
                  </a:lnTo>
                  <a:cubicBezTo>
                    <a:pt x="10736835" y="0"/>
                    <a:pt x="10755123" y="18288"/>
                    <a:pt x="10755123" y="40767"/>
                  </a:cubicBezTo>
                  <a:lnTo>
                    <a:pt x="10755123" y="1807718"/>
                  </a:lnTo>
                  <a:cubicBezTo>
                    <a:pt x="10755123" y="1830197"/>
                    <a:pt x="10736835" y="1848485"/>
                    <a:pt x="10714355" y="1848485"/>
                  </a:cubicBezTo>
                  <a:lnTo>
                    <a:pt x="40767" y="1848485"/>
                  </a:lnTo>
                  <a:cubicBezTo>
                    <a:pt x="18288" y="1848485"/>
                    <a:pt x="0" y="1830197"/>
                    <a:pt x="0" y="1807718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37698" y="6788515"/>
            <a:ext cx="7576918" cy="107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MAX_LOGIN_ATTEMPTS = 3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if login_attempts &gt;= MAX_LOGIN_ATTEMPTS: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block_user()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2991" y="8193024"/>
            <a:ext cx="8066332" cy="31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7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 constante transforma o valor </a:t>
            </a:r>
            <a:r>
              <a:rPr lang="en-US" sz="1576" b="true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3</a:t>
            </a:r>
            <a:r>
              <a:rPr lang="en-US" sz="157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em uma regra claramente identificada.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242517" y="1781080"/>
            <a:ext cx="3549110" cy="2193503"/>
            <a:chOff x="0" y="0"/>
            <a:chExt cx="4732147" cy="292467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4732147" cy="2924683"/>
            </a:xfrm>
            <a:custGeom>
              <a:avLst/>
              <a:gdLst/>
              <a:ahLst/>
              <a:cxnLst/>
              <a:rect r="r" b="b" t="t" l="l"/>
              <a:pathLst>
                <a:path h="2924683" w="4732147">
                  <a:moveTo>
                    <a:pt x="0" y="0"/>
                  </a:moveTo>
                  <a:lnTo>
                    <a:pt x="4732147" y="0"/>
                  </a:lnTo>
                  <a:lnTo>
                    <a:pt x="4732147" y="2924683"/>
                  </a:lnTo>
                  <a:lnTo>
                    <a:pt x="0" y="2924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02" r="0" b="-101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242517" y="4148261"/>
            <a:ext cx="8066332" cy="32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API de E-commerce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42517" y="4526309"/>
            <a:ext cx="8066332" cy="31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76" b="true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ANTES: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42517" y="5009598"/>
            <a:ext cx="8066332" cy="1386373"/>
            <a:chOff x="0" y="0"/>
            <a:chExt cx="10755109" cy="184849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55123" cy="1848485"/>
            </a:xfrm>
            <a:custGeom>
              <a:avLst/>
              <a:gdLst/>
              <a:ahLst/>
              <a:cxnLst/>
              <a:rect r="r" b="b" t="t" l="l"/>
              <a:pathLst>
                <a:path h="1848485" w="10755123">
                  <a:moveTo>
                    <a:pt x="0" y="40767"/>
                  </a:moveTo>
                  <a:cubicBezTo>
                    <a:pt x="0" y="18288"/>
                    <a:pt x="18288" y="0"/>
                    <a:pt x="40767" y="0"/>
                  </a:cubicBezTo>
                  <a:lnTo>
                    <a:pt x="10714355" y="0"/>
                  </a:lnTo>
                  <a:cubicBezTo>
                    <a:pt x="10736835" y="0"/>
                    <a:pt x="10755123" y="18288"/>
                    <a:pt x="10755123" y="40767"/>
                  </a:cubicBezTo>
                  <a:lnTo>
                    <a:pt x="10755123" y="1807718"/>
                  </a:lnTo>
                  <a:cubicBezTo>
                    <a:pt x="10755123" y="1830197"/>
                    <a:pt x="10736835" y="1848485"/>
                    <a:pt x="10714355" y="1848485"/>
                  </a:cubicBezTo>
                  <a:lnTo>
                    <a:pt x="40767" y="1848485"/>
                  </a:lnTo>
                  <a:cubicBezTo>
                    <a:pt x="18288" y="1848485"/>
                    <a:pt x="0" y="1830197"/>
                    <a:pt x="0" y="1807718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487233" y="5118259"/>
            <a:ext cx="7576918" cy="107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if len(products) &gt; 20: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raise ValueError(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"Too many products")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42517" y="6522758"/>
            <a:ext cx="8066332" cy="31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76" b="true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DEPOIS: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42517" y="7006047"/>
            <a:ext cx="8066332" cy="1712566"/>
            <a:chOff x="0" y="0"/>
            <a:chExt cx="10755109" cy="228342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55123" cy="2283460"/>
            </a:xfrm>
            <a:custGeom>
              <a:avLst/>
              <a:gdLst/>
              <a:ahLst/>
              <a:cxnLst/>
              <a:rect r="r" b="b" t="t" l="l"/>
              <a:pathLst>
                <a:path h="2283460" w="10755123">
                  <a:moveTo>
                    <a:pt x="0" y="40767"/>
                  </a:moveTo>
                  <a:cubicBezTo>
                    <a:pt x="0" y="18288"/>
                    <a:pt x="18288" y="0"/>
                    <a:pt x="40767" y="0"/>
                  </a:cubicBezTo>
                  <a:lnTo>
                    <a:pt x="10714355" y="0"/>
                  </a:lnTo>
                  <a:cubicBezTo>
                    <a:pt x="10736835" y="0"/>
                    <a:pt x="10755123" y="18288"/>
                    <a:pt x="10755123" y="40767"/>
                  </a:cubicBezTo>
                  <a:lnTo>
                    <a:pt x="10755123" y="2242693"/>
                  </a:lnTo>
                  <a:cubicBezTo>
                    <a:pt x="10755123" y="2265172"/>
                    <a:pt x="10736835" y="2283460"/>
                    <a:pt x="10714355" y="2283460"/>
                  </a:cubicBezTo>
                  <a:lnTo>
                    <a:pt x="40767" y="2283460"/>
                  </a:lnTo>
                  <a:cubicBezTo>
                    <a:pt x="18288" y="2283460"/>
                    <a:pt x="0" y="2265172"/>
                    <a:pt x="0" y="2242693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487233" y="7114708"/>
            <a:ext cx="7576918" cy="140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MAX_PRODUCTS_PER_PAGE = 20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if len(products) &gt; MAX_PRODUCTS_PER_PAGE: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raise ValueError(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"Too many products")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42517" y="8845401"/>
            <a:ext cx="8066332" cy="59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7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O valor </a:t>
            </a:r>
            <a:r>
              <a:rPr lang="en-US" sz="1576" b="true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20</a:t>
            </a:r>
            <a:r>
              <a:rPr lang="en-US" sz="1576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representa uma regra do sistema relacionada à quantidade máxima de produtos exibidos por página.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808044"/>
            <a:ext cx="16315868" cy="864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7"/>
              </a:lnSpc>
            </a:pPr>
            <a:r>
              <a:rPr lang="en-US" sz="5254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Onde colocar as constantes?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2102120"/>
            <a:ext cx="17230954" cy="50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Quando uma constante é utilizada em diferentes partes do projeto, podemos centralizá-la em um </a:t>
            </a:r>
            <a:r>
              <a:rPr lang="en-US" sz="2101" b="true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arquivo específico</a:t>
            </a:r>
            <a:r>
              <a:rPr lang="en-US" sz="210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991" y="3190389"/>
            <a:ext cx="7828026" cy="3136773"/>
            <a:chOff x="0" y="0"/>
            <a:chExt cx="10437368" cy="41823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37368" cy="4182364"/>
            </a:xfrm>
            <a:custGeom>
              <a:avLst/>
              <a:gdLst/>
              <a:ahLst/>
              <a:cxnLst/>
              <a:rect r="r" b="b" t="t" l="l"/>
              <a:pathLst>
                <a:path h="4182364" w="10437368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0383266" y="0"/>
                  </a:lnTo>
                  <a:cubicBezTo>
                    <a:pt x="10413111" y="0"/>
                    <a:pt x="10437368" y="24257"/>
                    <a:pt x="10437368" y="54102"/>
                  </a:cubicBezTo>
                  <a:lnTo>
                    <a:pt x="10437368" y="4128262"/>
                  </a:lnTo>
                  <a:cubicBezTo>
                    <a:pt x="10437368" y="4158107"/>
                    <a:pt x="10413111" y="4182364"/>
                    <a:pt x="10383266" y="4182364"/>
                  </a:cubicBezTo>
                  <a:lnTo>
                    <a:pt x="54102" y="4182364"/>
                  </a:lnTo>
                  <a:cubicBezTo>
                    <a:pt x="24257" y="4182364"/>
                    <a:pt x="0" y="4158107"/>
                    <a:pt x="0" y="4128262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17384" y="3336903"/>
            <a:ext cx="7179240" cy="271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project/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├── app/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│   ├── routes/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│   ├── services/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│   ├── models/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│   └── constants.py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6502860"/>
            <a:ext cx="8743121" cy="546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CFCBBF"/>
                </a:solidFill>
                <a:latin typeface="Consolas"/>
                <a:ea typeface="Consolas"/>
                <a:cs typeface="Consolas"/>
                <a:sym typeface="Consolas"/>
              </a:rPr>
              <a:t>Arquivo constants.py: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92991" y="7339241"/>
            <a:ext cx="7828026" cy="1838716"/>
            <a:chOff x="0" y="0"/>
            <a:chExt cx="10437368" cy="24516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37368" cy="2451608"/>
            </a:xfrm>
            <a:custGeom>
              <a:avLst/>
              <a:gdLst/>
              <a:ahLst/>
              <a:cxnLst/>
              <a:rect r="r" b="b" t="t" l="l"/>
              <a:pathLst>
                <a:path h="2451608" w="10437368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0383266" y="0"/>
                  </a:lnTo>
                  <a:cubicBezTo>
                    <a:pt x="10413111" y="0"/>
                    <a:pt x="10437368" y="24257"/>
                    <a:pt x="10437368" y="54102"/>
                  </a:cubicBezTo>
                  <a:lnTo>
                    <a:pt x="10437368" y="2397506"/>
                  </a:lnTo>
                  <a:cubicBezTo>
                    <a:pt x="10437368" y="2427351"/>
                    <a:pt x="10413111" y="2451608"/>
                    <a:pt x="10383266" y="2451608"/>
                  </a:cubicBezTo>
                  <a:lnTo>
                    <a:pt x="54102" y="2451608"/>
                  </a:lnTo>
                  <a:cubicBezTo>
                    <a:pt x="24257" y="2451608"/>
                    <a:pt x="0" y="2427351"/>
                    <a:pt x="0" y="2397506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17384" y="7485745"/>
            <a:ext cx="7179240" cy="1421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MAX_LOGIN_ATTEMPTS = 3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MIN_PASSWORD_LENGTH = 8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DEFAULT_PAGE_SIZE = 20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90358" y="3148546"/>
            <a:ext cx="7828026" cy="432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Utilização em outros módulos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90358" y="3870617"/>
            <a:ext cx="7828026" cy="2271408"/>
            <a:chOff x="0" y="0"/>
            <a:chExt cx="10437368" cy="30285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37368" cy="3028569"/>
            </a:xfrm>
            <a:custGeom>
              <a:avLst/>
              <a:gdLst/>
              <a:ahLst/>
              <a:cxnLst/>
              <a:rect r="r" b="b" t="t" l="l"/>
              <a:pathLst>
                <a:path h="3028569" w="10437368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0383266" y="0"/>
                  </a:lnTo>
                  <a:cubicBezTo>
                    <a:pt x="10413111" y="0"/>
                    <a:pt x="10437368" y="24257"/>
                    <a:pt x="10437368" y="54102"/>
                  </a:cubicBezTo>
                  <a:lnTo>
                    <a:pt x="10437368" y="2974467"/>
                  </a:lnTo>
                  <a:cubicBezTo>
                    <a:pt x="10437368" y="3004312"/>
                    <a:pt x="10413111" y="3028569"/>
                    <a:pt x="10383266" y="3028569"/>
                  </a:cubicBezTo>
                  <a:lnTo>
                    <a:pt x="54102" y="3028569"/>
                  </a:lnTo>
                  <a:cubicBezTo>
                    <a:pt x="24257" y="3028569"/>
                    <a:pt x="0" y="3004312"/>
                    <a:pt x="0" y="2974467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814750" y="4017131"/>
            <a:ext cx="7179240" cy="1854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from app.constants import MAX_LOGIN_ATTEMPTS</a:t>
            </a:r>
          </a:p>
          <a:p>
            <a:pPr algn="l">
              <a:lnSpc>
                <a:spcPts val="3354"/>
              </a:lnSpc>
            </a:pP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if login_attempts &gt;= MAX_LOGIN_ATTEMPTS: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block_user()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90358" y="6346298"/>
            <a:ext cx="7828026" cy="93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Isso </a:t>
            </a:r>
            <a:r>
              <a:rPr lang="en-US" sz="2101" b="true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evita duplicação de valores</a:t>
            </a:r>
            <a:r>
              <a:rPr lang="en-US" sz="210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e facilita a manutenção do projeto.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8039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3042561"/>
            <a:ext cx="9779816" cy="5942856"/>
            <a:chOff x="0" y="0"/>
            <a:chExt cx="13039755" cy="79238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39756" cy="7923808"/>
            </a:xfrm>
            <a:custGeom>
              <a:avLst/>
              <a:gdLst/>
              <a:ahLst/>
              <a:cxnLst/>
              <a:rect r="r" b="b" t="t" l="l"/>
              <a:pathLst>
                <a:path h="7923808" w="13039756">
                  <a:moveTo>
                    <a:pt x="0" y="102500"/>
                  </a:moveTo>
                  <a:cubicBezTo>
                    <a:pt x="0" y="45957"/>
                    <a:pt x="30305" y="0"/>
                    <a:pt x="67591" y="0"/>
                  </a:cubicBezTo>
                  <a:lnTo>
                    <a:pt x="12972164" y="0"/>
                  </a:lnTo>
                  <a:cubicBezTo>
                    <a:pt x="13009451" y="0"/>
                    <a:pt x="13039756" y="45957"/>
                    <a:pt x="13039756" y="102500"/>
                  </a:cubicBezTo>
                  <a:lnTo>
                    <a:pt x="13039756" y="7821308"/>
                  </a:lnTo>
                  <a:cubicBezTo>
                    <a:pt x="13039756" y="7877851"/>
                    <a:pt x="13009451" y="7923808"/>
                    <a:pt x="12972164" y="7923808"/>
                  </a:cubicBezTo>
                  <a:lnTo>
                    <a:pt x="67591" y="7923808"/>
                  </a:lnTo>
                  <a:cubicBezTo>
                    <a:pt x="30305" y="7923808"/>
                    <a:pt x="0" y="7877852"/>
                    <a:pt x="0" y="7821308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936057" y="3042561"/>
            <a:ext cx="4649123" cy="5942856"/>
            <a:chOff x="0" y="0"/>
            <a:chExt cx="6198831" cy="79238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98809" cy="7923847"/>
            </a:xfrm>
            <a:custGeom>
              <a:avLst/>
              <a:gdLst/>
              <a:ahLst/>
              <a:cxnLst/>
              <a:rect r="r" b="b" t="t" l="l"/>
              <a:pathLst>
                <a:path h="7923847" w="6198809">
                  <a:moveTo>
                    <a:pt x="0" y="75677"/>
                  </a:moveTo>
                  <a:cubicBezTo>
                    <a:pt x="0" y="33860"/>
                    <a:pt x="14365" y="0"/>
                    <a:pt x="32106" y="0"/>
                  </a:cubicBezTo>
                  <a:lnTo>
                    <a:pt x="6166703" y="0"/>
                  </a:lnTo>
                  <a:cubicBezTo>
                    <a:pt x="6184444" y="0"/>
                    <a:pt x="6198809" y="33860"/>
                    <a:pt x="6198809" y="75677"/>
                  </a:cubicBezTo>
                  <a:lnTo>
                    <a:pt x="6198809" y="7848182"/>
                  </a:lnTo>
                  <a:cubicBezTo>
                    <a:pt x="6198809" y="7889999"/>
                    <a:pt x="6184444" y="7923847"/>
                    <a:pt x="6166703" y="7923847"/>
                  </a:cubicBezTo>
                  <a:lnTo>
                    <a:pt x="32106" y="7923847"/>
                  </a:lnTo>
                  <a:cubicBezTo>
                    <a:pt x="14365" y="7923847"/>
                    <a:pt x="0" y="7889999"/>
                    <a:pt x="0" y="7848182"/>
                  </a:cubicBezTo>
                  <a:close/>
                </a:path>
              </a:pathLst>
            </a:custGeom>
            <a:solidFill>
              <a:srgbClr val="957D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23348" y="3250198"/>
            <a:ext cx="4274541" cy="1628571"/>
            <a:chOff x="0" y="0"/>
            <a:chExt cx="5699389" cy="2171428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699389" cy="2171428"/>
              <a:chOff x="0" y="0"/>
              <a:chExt cx="6157011" cy="234577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156960" cy="2345817"/>
              </a:xfrm>
              <a:custGeom>
                <a:avLst/>
                <a:gdLst/>
                <a:ahLst/>
                <a:cxnLst/>
                <a:rect r="r" b="b" t="t" l="l"/>
                <a:pathLst>
                  <a:path h="2345817" w="6156960">
                    <a:moveTo>
                      <a:pt x="0" y="49657"/>
                    </a:moveTo>
                    <a:cubicBezTo>
                      <a:pt x="0" y="22225"/>
                      <a:pt x="22225" y="0"/>
                      <a:pt x="49657" y="0"/>
                    </a:cubicBezTo>
                    <a:lnTo>
                      <a:pt x="6107303" y="0"/>
                    </a:lnTo>
                    <a:cubicBezTo>
                      <a:pt x="6134735" y="0"/>
                      <a:pt x="6156960" y="22225"/>
                      <a:pt x="6156960" y="49657"/>
                    </a:cubicBezTo>
                    <a:lnTo>
                      <a:pt x="6156960" y="2296160"/>
                    </a:lnTo>
                    <a:cubicBezTo>
                      <a:pt x="6156960" y="2323592"/>
                      <a:pt x="6134735" y="2345817"/>
                      <a:pt x="6107303" y="2345817"/>
                    </a:cubicBezTo>
                    <a:lnTo>
                      <a:pt x="49657" y="2345817"/>
                    </a:lnTo>
                    <a:cubicBezTo>
                      <a:pt x="22225" y="2345817"/>
                      <a:pt x="0" y="2323592"/>
                      <a:pt x="0" y="2296160"/>
                    </a:cubicBezTo>
                    <a:close/>
                  </a:path>
                </a:pathLst>
              </a:custGeom>
              <a:solidFill>
                <a:srgbClr val="3A3B3C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306257" y="306257"/>
              <a:ext cx="1006907" cy="440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4"/>
                </a:lnSpc>
              </a:pPr>
              <a:r>
                <a:rPr lang="en-US" sz="2223">
                  <a:solidFill>
                    <a:srgbClr val="CFCBBF"/>
                  </a:solidFill>
                  <a:latin typeface="Prata"/>
                  <a:ea typeface="Prata"/>
                  <a:cs typeface="Prata"/>
                  <a:sym typeface="Prata"/>
                </a:rPr>
                <a:t>0.762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06257" y="879324"/>
              <a:ext cx="5086874" cy="8918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9"/>
                </a:lnSpc>
              </a:pPr>
              <a:r>
                <a:rPr lang="en-US" sz="1806">
                  <a:solidFill>
                    <a:srgbClr val="CFCBBF"/>
                  </a:solidFill>
                  <a:latin typeface="Raleway"/>
                  <a:ea typeface="Raleway"/>
                  <a:cs typeface="Raleway"/>
                  <a:sym typeface="Raleway"/>
                </a:rPr>
                <a:t>Tamanho médio de um passo humano.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123348" y="5227725"/>
            <a:ext cx="4274541" cy="1628571"/>
            <a:chOff x="0" y="0"/>
            <a:chExt cx="5699389" cy="2171428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5699389" cy="2171428"/>
              <a:chOff x="0" y="0"/>
              <a:chExt cx="6157011" cy="234577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156960" cy="2345817"/>
              </a:xfrm>
              <a:custGeom>
                <a:avLst/>
                <a:gdLst/>
                <a:ahLst/>
                <a:cxnLst/>
                <a:rect r="r" b="b" t="t" l="l"/>
                <a:pathLst>
                  <a:path h="2345817" w="6156960">
                    <a:moveTo>
                      <a:pt x="0" y="49657"/>
                    </a:moveTo>
                    <a:cubicBezTo>
                      <a:pt x="0" y="22225"/>
                      <a:pt x="22225" y="0"/>
                      <a:pt x="49657" y="0"/>
                    </a:cubicBezTo>
                    <a:lnTo>
                      <a:pt x="6107303" y="0"/>
                    </a:lnTo>
                    <a:cubicBezTo>
                      <a:pt x="6134735" y="0"/>
                      <a:pt x="6156960" y="22225"/>
                      <a:pt x="6156960" y="49657"/>
                    </a:cubicBezTo>
                    <a:lnTo>
                      <a:pt x="6156960" y="2296160"/>
                    </a:lnTo>
                    <a:cubicBezTo>
                      <a:pt x="6156960" y="2323592"/>
                      <a:pt x="6134735" y="2345817"/>
                      <a:pt x="6107303" y="2345817"/>
                    </a:cubicBezTo>
                    <a:lnTo>
                      <a:pt x="49657" y="2345817"/>
                    </a:lnTo>
                    <a:cubicBezTo>
                      <a:pt x="22225" y="2345817"/>
                      <a:pt x="0" y="2323592"/>
                      <a:pt x="0" y="2296160"/>
                    </a:cubicBezTo>
                    <a:close/>
                  </a:path>
                </a:pathLst>
              </a:custGeom>
              <a:solidFill>
                <a:srgbClr val="3A3B3C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306257" y="306257"/>
              <a:ext cx="722998" cy="440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4"/>
                </a:lnSpc>
              </a:pPr>
              <a:r>
                <a:rPr lang="en-US" sz="2223">
                  <a:solidFill>
                    <a:srgbClr val="CFCBBF"/>
                  </a:solidFill>
                  <a:latin typeface="Prata"/>
                  <a:ea typeface="Prata"/>
                  <a:cs typeface="Prata"/>
                  <a:sym typeface="Prata"/>
                </a:rPr>
                <a:t>220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06257" y="879324"/>
              <a:ext cx="5086874" cy="8918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9"/>
                </a:lnSpc>
              </a:pPr>
              <a:r>
                <a:rPr lang="en-US" sz="1806">
                  <a:solidFill>
                    <a:srgbClr val="CFCBBF"/>
                  </a:solidFill>
                  <a:latin typeface="Raleway"/>
                  <a:ea typeface="Raleway"/>
                  <a:cs typeface="Raleway"/>
                  <a:sym typeface="Raleway"/>
                </a:rPr>
                <a:t>Base da fórmula médica para calcular Frequência Cardíaca.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116531" y="7205251"/>
            <a:ext cx="4274541" cy="1628571"/>
            <a:chOff x="0" y="0"/>
            <a:chExt cx="5699389" cy="217142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5699389" cy="2171428"/>
              <a:chOff x="0" y="0"/>
              <a:chExt cx="6157011" cy="234577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156960" cy="2345817"/>
              </a:xfrm>
              <a:custGeom>
                <a:avLst/>
                <a:gdLst/>
                <a:ahLst/>
                <a:cxnLst/>
                <a:rect r="r" b="b" t="t" l="l"/>
                <a:pathLst>
                  <a:path h="2345817" w="6156960">
                    <a:moveTo>
                      <a:pt x="0" y="49657"/>
                    </a:moveTo>
                    <a:cubicBezTo>
                      <a:pt x="0" y="22225"/>
                      <a:pt x="22225" y="0"/>
                      <a:pt x="49657" y="0"/>
                    </a:cubicBezTo>
                    <a:lnTo>
                      <a:pt x="6107303" y="0"/>
                    </a:lnTo>
                    <a:cubicBezTo>
                      <a:pt x="6134735" y="0"/>
                      <a:pt x="6156960" y="22225"/>
                      <a:pt x="6156960" y="49657"/>
                    </a:cubicBezTo>
                    <a:lnTo>
                      <a:pt x="6156960" y="2296160"/>
                    </a:lnTo>
                    <a:cubicBezTo>
                      <a:pt x="6156960" y="2323592"/>
                      <a:pt x="6134735" y="2345817"/>
                      <a:pt x="6107303" y="2345817"/>
                    </a:cubicBezTo>
                    <a:lnTo>
                      <a:pt x="49657" y="2345817"/>
                    </a:lnTo>
                    <a:cubicBezTo>
                      <a:pt x="22225" y="2345817"/>
                      <a:pt x="0" y="2323592"/>
                      <a:pt x="0" y="2296160"/>
                    </a:cubicBezTo>
                    <a:close/>
                  </a:path>
                </a:pathLst>
              </a:custGeom>
              <a:solidFill>
                <a:srgbClr val="3A3B3C"/>
              </a:solid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306257" y="306257"/>
              <a:ext cx="532158" cy="440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4"/>
                </a:lnSpc>
              </a:pPr>
              <a:r>
                <a:rPr lang="en-US" sz="2223">
                  <a:solidFill>
                    <a:srgbClr val="CFCBBF"/>
                  </a:solidFill>
                  <a:latin typeface="Prata"/>
                  <a:ea typeface="Prata"/>
                  <a:cs typeface="Prata"/>
                  <a:sym typeface="Prata"/>
                </a:rPr>
                <a:t>0.7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06257" y="879324"/>
              <a:ext cx="5086874" cy="8918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9"/>
                </a:lnSpc>
              </a:pPr>
              <a:r>
                <a:rPr lang="en-US" sz="1806">
                  <a:solidFill>
                    <a:srgbClr val="CFCBBF"/>
                  </a:solidFill>
                  <a:latin typeface="Raleway"/>
                  <a:ea typeface="Raleway"/>
                  <a:cs typeface="Raleway"/>
                  <a:sym typeface="Raleway"/>
                </a:rPr>
                <a:t>Multiplicador de 70%, limite mínimo para entrar na zona aeróbica.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92991" y="808044"/>
            <a:ext cx="5813266" cy="75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7"/>
              </a:lnSpc>
            </a:pPr>
            <a:r>
              <a:rPr lang="en-US" sz="4854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Caso 1: Ilegibilidade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2991" y="1898539"/>
            <a:ext cx="16443503" cy="38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00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Num aplicativo de smartwatch, o programa monitora e mede o progresso do usuário usando valores consolidados por outras áreas.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84044" y="3280686"/>
            <a:ext cx="8020582" cy="379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analisar_treino(idade, passos, batimentos_atuais):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distancia_metros = passos * 0.762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if batimentos_atuais &gt;= (220 - idade) * 0.7: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print("Você atingiu a zona de queima de gordura!")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return distancia_metros</a:t>
            </a:r>
          </a:p>
        </p:txBody>
      </p:sp>
      <p:sp>
        <p:nvSpPr>
          <p:cNvPr name="AutoShape 26" id="26"/>
          <p:cNvSpPr/>
          <p:nvPr/>
        </p:nvSpPr>
        <p:spPr>
          <a:xfrm flipV="true">
            <a:off x="15483904" y="8985417"/>
            <a:ext cx="0" cy="622322"/>
          </a:xfrm>
          <a:prstGeom prst="line">
            <a:avLst/>
          </a:prstGeom>
          <a:ln cap="flat" w="38100">
            <a:solidFill>
              <a:srgbClr val="A28A0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3912914" y="9607739"/>
            <a:ext cx="1570989" cy="0"/>
          </a:xfrm>
          <a:prstGeom prst="line">
            <a:avLst/>
          </a:prstGeom>
          <a:ln cap="flat" w="38100">
            <a:solidFill>
              <a:srgbClr val="A28A0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9504626" y="9372509"/>
            <a:ext cx="4260134" cy="38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001">
                <a:solidFill>
                  <a:srgbClr val="A28A0D"/>
                </a:solidFill>
                <a:latin typeface="Raleway"/>
                <a:ea typeface="Raleway"/>
                <a:cs typeface="Raleway"/>
                <a:sym typeface="Raleway"/>
              </a:rPr>
              <a:t>Nada disso foi clarificado no código.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58774" y="426331"/>
            <a:ext cx="8326355" cy="9327344"/>
            <a:chOff x="0" y="0"/>
            <a:chExt cx="11101807" cy="124364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101808" cy="12436458"/>
            </a:xfrm>
            <a:custGeom>
              <a:avLst/>
              <a:gdLst/>
              <a:ahLst/>
              <a:cxnLst/>
              <a:rect r="r" b="b" t="t" l="l"/>
              <a:pathLst>
                <a:path h="12436458" w="11101808">
                  <a:moveTo>
                    <a:pt x="0" y="160875"/>
                  </a:moveTo>
                  <a:cubicBezTo>
                    <a:pt x="0" y="72129"/>
                    <a:pt x="25801" y="0"/>
                    <a:pt x="57546" y="0"/>
                  </a:cubicBezTo>
                  <a:lnTo>
                    <a:pt x="11044262" y="0"/>
                  </a:lnTo>
                  <a:cubicBezTo>
                    <a:pt x="11076006" y="0"/>
                    <a:pt x="11101808" y="72129"/>
                    <a:pt x="11101808" y="160875"/>
                  </a:cubicBezTo>
                  <a:lnTo>
                    <a:pt x="11101808" y="12275583"/>
                  </a:lnTo>
                  <a:cubicBezTo>
                    <a:pt x="11101808" y="12364328"/>
                    <a:pt x="11076006" y="12436458"/>
                    <a:pt x="11044262" y="12436458"/>
                  </a:cubicBezTo>
                  <a:lnTo>
                    <a:pt x="57546" y="12436458"/>
                  </a:lnTo>
                  <a:cubicBezTo>
                    <a:pt x="25801" y="12436458"/>
                    <a:pt x="0" y="12364329"/>
                    <a:pt x="0" y="12275583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3957032"/>
            <a:ext cx="5247174" cy="5301268"/>
          </a:xfrm>
          <a:custGeom>
            <a:avLst/>
            <a:gdLst/>
            <a:ahLst/>
            <a:cxnLst/>
            <a:rect r="r" b="b" t="t" l="l"/>
            <a:pathLst>
              <a:path h="5301268" w="5247174">
                <a:moveTo>
                  <a:pt x="0" y="0"/>
                </a:moveTo>
                <a:lnTo>
                  <a:pt x="5247174" y="0"/>
                </a:lnTo>
                <a:lnTo>
                  <a:pt x="5247174" y="5301268"/>
                </a:lnTo>
                <a:lnTo>
                  <a:pt x="0" y="53012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36714"/>
            <a:ext cx="3330257" cy="815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7"/>
              </a:lnSpc>
            </a:pPr>
            <a:r>
              <a:rPr lang="en-US" sz="5254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Resolução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819110"/>
            <a:ext cx="7897933" cy="1051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Para esse caso, a resolução é simples. </a:t>
            </a:r>
            <a:r>
              <a:rPr lang="en-US" sz="1801" b="true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Nomeando os valores</a:t>
            </a:r>
            <a:r>
              <a:rPr lang="en-US" sz="180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dentro do código todo o problema de ilegibilidade some, permitindo modificações futuras!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46445" y="664456"/>
            <a:ext cx="7617598" cy="6304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passoMetros = 0.762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baseFcMaxima </a:t>
            </a: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= 220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zonaAerobica </a:t>
            </a: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= 0.7</a:t>
            </a:r>
          </a:p>
          <a:p>
            <a:pPr algn="l">
              <a:lnSpc>
                <a:spcPts val="3354"/>
              </a:lnSpc>
            </a:pP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analisar_treino(idade, passos, batimentos_atuais):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distancia_metros = passos * passoMetros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if batimentos_atuais &gt;= (baseFcMaxima - idade) * zonaAerobica: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print("Você atingiu a zona de queima de gordura!")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return distancia_metros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08044"/>
            <a:ext cx="12235339" cy="75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7"/>
              </a:lnSpc>
            </a:pPr>
            <a:r>
              <a:rPr lang="en-US" sz="4854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Caso 2: Duplicação e dispersão de dados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898539"/>
            <a:ext cx="16443503" cy="38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00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Para comprar e utilizar um item num jogo, você precisa de dinheiro e níveis mínimos, um ótimo caso que Magic Numbers geram bagunça.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991" y="3190389"/>
            <a:ext cx="7828026" cy="5942856"/>
            <a:chOff x="0" y="0"/>
            <a:chExt cx="10437368" cy="79238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37368" cy="7923808"/>
            </a:xfrm>
            <a:custGeom>
              <a:avLst/>
              <a:gdLst/>
              <a:ahLst/>
              <a:cxnLst/>
              <a:rect r="r" b="b" t="t" l="l"/>
              <a:pathLst>
                <a:path h="7923808" w="10437368">
                  <a:moveTo>
                    <a:pt x="0" y="102500"/>
                  </a:moveTo>
                  <a:cubicBezTo>
                    <a:pt x="0" y="45957"/>
                    <a:pt x="24257" y="0"/>
                    <a:pt x="54102" y="0"/>
                  </a:cubicBezTo>
                  <a:lnTo>
                    <a:pt x="10383266" y="0"/>
                  </a:lnTo>
                  <a:cubicBezTo>
                    <a:pt x="10413111" y="0"/>
                    <a:pt x="10437368" y="45957"/>
                    <a:pt x="10437368" y="102500"/>
                  </a:cubicBezTo>
                  <a:lnTo>
                    <a:pt x="10437368" y="7821308"/>
                  </a:lnTo>
                  <a:cubicBezTo>
                    <a:pt x="10437368" y="7877851"/>
                    <a:pt x="10413111" y="7923808"/>
                    <a:pt x="10383266" y="7923808"/>
                  </a:cubicBezTo>
                  <a:lnTo>
                    <a:pt x="54102" y="7923808"/>
                  </a:lnTo>
                  <a:cubicBezTo>
                    <a:pt x="24257" y="7923808"/>
                    <a:pt x="0" y="7877852"/>
                    <a:pt x="0" y="7821308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48334" y="3428514"/>
            <a:ext cx="6917339" cy="420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comprar_skate(jogador):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print("O Skate custa 10000 moedas e o requisito mínimo é Nível 99.")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if jogador["moedas"] &gt;= 10000: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jogador["moedas"] -= 10000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jogador["inventario"].append("Skate")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print("Skate comprado com sucesso!")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else: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print("Moedas insuficientes!")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991" y="2859727"/>
            <a:ext cx="2655392" cy="330663"/>
            <a:chOff x="0" y="0"/>
            <a:chExt cx="64971308" cy="80905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971309" cy="8090547"/>
            </a:xfrm>
            <a:custGeom>
              <a:avLst/>
              <a:gdLst/>
              <a:ahLst/>
              <a:cxnLst/>
              <a:rect r="r" b="b" t="t" l="l"/>
              <a:pathLst>
                <a:path h="8090547" w="64971309">
                  <a:moveTo>
                    <a:pt x="0" y="104657"/>
                  </a:moveTo>
                  <a:cubicBezTo>
                    <a:pt x="0" y="46924"/>
                    <a:pt x="150997" y="0"/>
                    <a:pt x="336778" y="0"/>
                  </a:cubicBezTo>
                  <a:lnTo>
                    <a:pt x="64634529" y="0"/>
                  </a:lnTo>
                  <a:cubicBezTo>
                    <a:pt x="64820310" y="0"/>
                    <a:pt x="64971309" y="46924"/>
                    <a:pt x="64971309" y="104657"/>
                  </a:cubicBezTo>
                  <a:lnTo>
                    <a:pt x="64971309" y="7985890"/>
                  </a:lnTo>
                  <a:cubicBezTo>
                    <a:pt x="64971309" y="8043623"/>
                    <a:pt x="64820310" y="8090547"/>
                    <a:pt x="64634529" y="8090547"/>
                  </a:cubicBezTo>
                  <a:lnTo>
                    <a:pt x="336778" y="8090547"/>
                  </a:lnTo>
                  <a:cubicBezTo>
                    <a:pt x="150997" y="8090547"/>
                    <a:pt x="0" y="8043624"/>
                    <a:pt x="0" y="7985890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2753160"/>
            <a:ext cx="2655392" cy="437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loja.py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608468" y="3190389"/>
            <a:ext cx="7828026" cy="2463197"/>
            <a:chOff x="0" y="0"/>
            <a:chExt cx="10437368" cy="32842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37368" cy="3284262"/>
            </a:xfrm>
            <a:custGeom>
              <a:avLst/>
              <a:gdLst/>
              <a:ahLst/>
              <a:cxnLst/>
              <a:rect r="r" b="b" t="t" l="l"/>
              <a:pathLst>
                <a:path h="3284262" w="10437368">
                  <a:moveTo>
                    <a:pt x="0" y="42484"/>
                  </a:moveTo>
                  <a:cubicBezTo>
                    <a:pt x="0" y="19048"/>
                    <a:pt x="24257" y="0"/>
                    <a:pt x="54102" y="0"/>
                  </a:cubicBezTo>
                  <a:lnTo>
                    <a:pt x="10383266" y="0"/>
                  </a:lnTo>
                  <a:cubicBezTo>
                    <a:pt x="10413111" y="0"/>
                    <a:pt x="10437368" y="19048"/>
                    <a:pt x="10437368" y="42484"/>
                  </a:cubicBezTo>
                  <a:lnTo>
                    <a:pt x="10437368" y="3241778"/>
                  </a:lnTo>
                  <a:cubicBezTo>
                    <a:pt x="10437368" y="3265214"/>
                    <a:pt x="10413111" y="3284262"/>
                    <a:pt x="10383266" y="3284262"/>
                  </a:cubicBezTo>
                  <a:lnTo>
                    <a:pt x="54102" y="3284262"/>
                  </a:lnTo>
                  <a:cubicBezTo>
                    <a:pt x="24257" y="3284262"/>
                    <a:pt x="0" y="3265214"/>
                    <a:pt x="0" y="3241778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063811" y="3276837"/>
            <a:ext cx="6917339" cy="211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equipar_skate(jogador):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if jogador["nivel"] &gt;= 99: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print("Skate equipado!")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else: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print("Nível insuficiente!")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608468" y="2859727"/>
            <a:ext cx="2655392" cy="330663"/>
            <a:chOff x="0" y="0"/>
            <a:chExt cx="64971308" cy="80905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971309" cy="8090547"/>
            </a:xfrm>
            <a:custGeom>
              <a:avLst/>
              <a:gdLst/>
              <a:ahLst/>
              <a:cxnLst/>
              <a:rect r="r" b="b" t="t" l="l"/>
              <a:pathLst>
                <a:path h="8090547" w="64971309">
                  <a:moveTo>
                    <a:pt x="0" y="104657"/>
                  </a:moveTo>
                  <a:cubicBezTo>
                    <a:pt x="0" y="46924"/>
                    <a:pt x="150997" y="0"/>
                    <a:pt x="336778" y="0"/>
                  </a:cubicBezTo>
                  <a:lnTo>
                    <a:pt x="64634529" y="0"/>
                  </a:lnTo>
                  <a:cubicBezTo>
                    <a:pt x="64820310" y="0"/>
                    <a:pt x="64971309" y="46924"/>
                    <a:pt x="64971309" y="104657"/>
                  </a:cubicBezTo>
                  <a:lnTo>
                    <a:pt x="64971309" y="7985890"/>
                  </a:lnTo>
                  <a:cubicBezTo>
                    <a:pt x="64971309" y="8043623"/>
                    <a:pt x="64820310" y="8090547"/>
                    <a:pt x="64634529" y="8090547"/>
                  </a:cubicBezTo>
                  <a:lnTo>
                    <a:pt x="336778" y="8090547"/>
                  </a:lnTo>
                  <a:cubicBezTo>
                    <a:pt x="150997" y="8090547"/>
                    <a:pt x="0" y="8043624"/>
                    <a:pt x="0" y="7985890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644177" y="2753160"/>
            <a:ext cx="2655392" cy="437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inventario.py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608468" y="6670049"/>
            <a:ext cx="7828026" cy="2463197"/>
            <a:chOff x="0" y="0"/>
            <a:chExt cx="10437368" cy="32842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37368" cy="3284262"/>
            </a:xfrm>
            <a:custGeom>
              <a:avLst/>
              <a:gdLst/>
              <a:ahLst/>
              <a:cxnLst/>
              <a:rect r="r" b="b" t="t" l="l"/>
              <a:pathLst>
                <a:path h="3284262" w="10437368">
                  <a:moveTo>
                    <a:pt x="0" y="42484"/>
                  </a:moveTo>
                  <a:cubicBezTo>
                    <a:pt x="0" y="19048"/>
                    <a:pt x="24257" y="0"/>
                    <a:pt x="54102" y="0"/>
                  </a:cubicBezTo>
                  <a:lnTo>
                    <a:pt x="10383266" y="0"/>
                  </a:lnTo>
                  <a:cubicBezTo>
                    <a:pt x="10413111" y="0"/>
                    <a:pt x="10437368" y="19048"/>
                    <a:pt x="10437368" y="42484"/>
                  </a:cubicBezTo>
                  <a:lnTo>
                    <a:pt x="10437368" y="3241778"/>
                  </a:lnTo>
                  <a:cubicBezTo>
                    <a:pt x="10437368" y="3265214"/>
                    <a:pt x="10413111" y="3284262"/>
                    <a:pt x="10383266" y="3284262"/>
                  </a:cubicBezTo>
                  <a:lnTo>
                    <a:pt x="54102" y="3284262"/>
                  </a:lnTo>
                  <a:cubicBezTo>
                    <a:pt x="24257" y="3284262"/>
                    <a:pt x="0" y="3265214"/>
                    <a:pt x="0" y="3241778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063811" y="6756496"/>
            <a:ext cx="6917339" cy="1694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inspect_skate():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p</a:t>
            </a: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rint("--- Skate ---")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print("Preço: 10000 moedas")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print("Requisito: Nível 99")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608468" y="6339386"/>
            <a:ext cx="2655392" cy="330663"/>
            <a:chOff x="0" y="0"/>
            <a:chExt cx="64971308" cy="80905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971309" cy="8090547"/>
            </a:xfrm>
            <a:custGeom>
              <a:avLst/>
              <a:gdLst/>
              <a:ahLst/>
              <a:cxnLst/>
              <a:rect r="r" b="b" t="t" l="l"/>
              <a:pathLst>
                <a:path h="8090547" w="64971309">
                  <a:moveTo>
                    <a:pt x="0" y="104657"/>
                  </a:moveTo>
                  <a:cubicBezTo>
                    <a:pt x="0" y="46924"/>
                    <a:pt x="150997" y="0"/>
                    <a:pt x="336778" y="0"/>
                  </a:cubicBezTo>
                  <a:lnTo>
                    <a:pt x="64634529" y="0"/>
                  </a:lnTo>
                  <a:cubicBezTo>
                    <a:pt x="64820310" y="0"/>
                    <a:pt x="64971309" y="46924"/>
                    <a:pt x="64971309" y="104657"/>
                  </a:cubicBezTo>
                  <a:lnTo>
                    <a:pt x="64971309" y="7985890"/>
                  </a:lnTo>
                  <a:cubicBezTo>
                    <a:pt x="64971309" y="8043623"/>
                    <a:pt x="64820310" y="8090547"/>
                    <a:pt x="64634529" y="8090547"/>
                  </a:cubicBezTo>
                  <a:lnTo>
                    <a:pt x="336778" y="8090547"/>
                  </a:lnTo>
                  <a:cubicBezTo>
                    <a:pt x="150997" y="8090547"/>
                    <a:pt x="0" y="8043624"/>
                    <a:pt x="0" y="7985890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644177" y="6232819"/>
            <a:ext cx="2655392" cy="437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interface.py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736714"/>
            <a:ext cx="3330257" cy="815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7"/>
              </a:lnSpc>
            </a:pPr>
            <a:r>
              <a:rPr lang="en-US" sz="5254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Resolução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309586" y="616657"/>
            <a:ext cx="3949714" cy="2121922"/>
            <a:chOff x="0" y="0"/>
            <a:chExt cx="6689266" cy="35937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89267" cy="3593703"/>
            </a:xfrm>
            <a:custGeom>
              <a:avLst/>
              <a:gdLst/>
              <a:ahLst/>
              <a:cxnLst/>
              <a:rect r="r" b="b" t="t" l="l"/>
              <a:pathLst>
                <a:path h="3593703" w="6689267">
                  <a:moveTo>
                    <a:pt x="0" y="46487"/>
                  </a:moveTo>
                  <a:cubicBezTo>
                    <a:pt x="0" y="20843"/>
                    <a:pt x="15546" y="0"/>
                    <a:pt x="34674" y="0"/>
                  </a:cubicBezTo>
                  <a:lnTo>
                    <a:pt x="6654593" y="0"/>
                  </a:lnTo>
                  <a:cubicBezTo>
                    <a:pt x="6673720" y="0"/>
                    <a:pt x="6689267" y="20843"/>
                    <a:pt x="6689267" y="46487"/>
                  </a:cubicBezTo>
                  <a:lnTo>
                    <a:pt x="6689267" y="3547216"/>
                  </a:lnTo>
                  <a:cubicBezTo>
                    <a:pt x="6689267" y="3572860"/>
                    <a:pt x="6673720" y="3593703"/>
                    <a:pt x="6654593" y="3593703"/>
                  </a:cubicBezTo>
                  <a:lnTo>
                    <a:pt x="34674" y="3593703"/>
                  </a:lnTo>
                  <a:cubicBezTo>
                    <a:pt x="15546" y="3593703"/>
                    <a:pt x="0" y="3572860"/>
                    <a:pt x="0" y="3547216"/>
                  </a:cubicBezTo>
                  <a:close/>
                </a:path>
              </a:pathLst>
            </a:custGeom>
            <a:solidFill>
              <a:srgbClr val="A28A0D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721874" y="754068"/>
            <a:ext cx="3356467" cy="174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733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skateData = {</a:t>
            </a:r>
          </a:p>
          <a:p>
            <a:pPr algn="l">
              <a:lnSpc>
                <a:spcPts val="2766"/>
              </a:lnSpc>
            </a:pPr>
            <a:r>
              <a:rPr lang="en-US" sz="1733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"preco": 10000,</a:t>
            </a:r>
          </a:p>
          <a:p>
            <a:pPr algn="l">
              <a:lnSpc>
                <a:spcPts val="2766"/>
              </a:lnSpc>
            </a:pPr>
            <a:r>
              <a:rPr lang="en-US" sz="1733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"nivel_minimo": 99</a:t>
            </a:r>
          </a:p>
          <a:p>
            <a:pPr algn="l">
              <a:lnSpc>
                <a:spcPts val="2766"/>
              </a:lnSpc>
            </a:pPr>
            <a:r>
              <a:rPr lang="en-US" sz="1733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"peso": 50</a:t>
            </a:r>
          </a:p>
          <a:p>
            <a:pPr algn="l">
              <a:lnSpc>
                <a:spcPts val="2766"/>
              </a:lnSpc>
            </a:pPr>
            <a:r>
              <a:rPr lang="en-US" sz="1733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309586" y="356335"/>
            <a:ext cx="2090521" cy="260322"/>
            <a:chOff x="0" y="0"/>
            <a:chExt cx="64971308" cy="80905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971309" cy="8090547"/>
            </a:xfrm>
            <a:custGeom>
              <a:avLst/>
              <a:gdLst/>
              <a:ahLst/>
              <a:cxnLst/>
              <a:rect r="r" b="b" t="t" l="l"/>
              <a:pathLst>
                <a:path h="8090547" w="64971309">
                  <a:moveTo>
                    <a:pt x="0" y="104657"/>
                  </a:moveTo>
                  <a:cubicBezTo>
                    <a:pt x="0" y="46924"/>
                    <a:pt x="150997" y="0"/>
                    <a:pt x="336778" y="0"/>
                  </a:cubicBezTo>
                  <a:lnTo>
                    <a:pt x="64634529" y="0"/>
                  </a:lnTo>
                  <a:cubicBezTo>
                    <a:pt x="64820310" y="0"/>
                    <a:pt x="64971309" y="46924"/>
                    <a:pt x="64971309" y="104657"/>
                  </a:cubicBezTo>
                  <a:lnTo>
                    <a:pt x="64971309" y="7985890"/>
                  </a:lnTo>
                  <a:cubicBezTo>
                    <a:pt x="64971309" y="8043623"/>
                    <a:pt x="64820310" y="8090547"/>
                    <a:pt x="64634529" y="8090547"/>
                  </a:cubicBezTo>
                  <a:lnTo>
                    <a:pt x="336778" y="8090547"/>
                  </a:lnTo>
                  <a:cubicBezTo>
                    <a:pt x="150997" y="8090547"/>
                    <a:pt x="0" y="8043624"/>
                    <a:pt x="0" y="7985890"/>
                  </a:cubicBezTo>
                  <a:close/>
                </a:path>
              </a:pathLst>
            </a:custGeom>
            <a:solidFill>
              <a:srgbClr val="957D0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337699" y="265147"/>
            <a:ext cx="1884333" cy="362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733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itemlist.py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4047409"/>
            <a:ext cx="7897933" cy="5558503"/>
            <a:chOff x="0" y="0"/>
            <a:chExt cx="11258734" cy="79238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58734" cy="7923808"/>
            </a:xfrm>
            <a:custGeom>
              <a:avLst/>
              <a:gdLst/>
              <a:ahLst/>
              <a:cxnLst/>
              <a:rect r="r" b="b" t="t" l="l"/>
              <a:pathLst>
                <a:path h="7923808" w="11258734">
                  <a:moveTo>
                    <a:pt x="0" y="102500"/>
                  </a:moveTo>
                  <a:cubicBezTo>
                    <a:pt x="0" y="45957"/>
                    <a:pt x="26166" y="0"/>
                    <a:pt x="58360" y="0"/>
                  </a:cubicBezTo>
                  <a:lnTo>
                    <a:pt x="11200374" y="0"/>
                  </a:lnTo>
                  <a:cubicBezTo>
                    <a:pt x="11232568" y="0"/>
                    <a:pt x="11258734" y="45957"/>
                    <a:pt x="11258734" y="102500"/>
                  </a:cubicBezTo>
                  <a:lnTo>
                    <a:pt x="11258734" y="7821308"/>
                  </a:lnTo>
                  <a:cubicBezTo>
                    <a:pt x="11258734" y="7877851"/>
                    <a:pt x="11232568" y="7923808"/>
                    <a:pt x="11200374" y="7923808"/>
                  </a:cubicBezTo>
                  <a:lnTo>
                    <a:pt x="58360" y="7923808"/>
                  </a:lnTo>
                  <a:cubicBezTo>
                    <a:pt x="26166" y="7923808"/>
                    <a:pt x="0" y="7877852"/>
                    <a:pt x="0" y="7821308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88110" y="4271650"/>
            <a:ext cx="7188634" cy="4719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comprar_skate(jogador):</a:t>
            </a:r>
          </a:p>
          <a:p>
            <a:pPr algn="l">
              <a:lnSpc>
                <a:spcPts val="3137"/>
              </a:lnSpc>
            </a:pP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preco = skateData["preco"]</a:t>
            </a:r>
          </a:p>
          <a:p>
            <a:pPr algn="l">
              <a:lnSpc>
                <a:spcPts val="3137"/>
              </a:lnSpc>
            </a:pP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nivel = skateData["nivel_minimo"]</a:t>
            </a:r>
          </a:p>
          <a:p>
            <a:pPr algn="l">
              <a:lnSpc>
                <a:spcPts val="3137"/>
              </a:lnSpc>
            </a:pP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print(f"O Skate custa {preco} moedas e o requisito mínimo é Nível {nivel}.")</a:t>
            </a:r>
          </a:p>
          <a:p>
            <a:pPr algn="l">
              <a:lnSpc>
                <a:spcPts val="3137"/>
              </a:lnSpc>
            </a:pP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</a:p>
          <a:p>
            <a:pPr algn="l">
              <a:lnSpc>
                <a:spcPts val="3137"/>
              </a:lnSpc>
            </a:pP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if jogador["moedas"] &gt;= preco:</a:t>
            </a:r>
          </a:p>
          <a:p>
            <a:pPr algn="l">
              <a:lnSpc>
                <a:spcPts val="3137"/>
              </a:lnSpc>
            </a:pP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jogador["moedas"] -= preco                                     </a:t>
            </a:r>
          </a:p>
          <a:p>
            <a:pPr algn="l">
              <a:lnSpc>
                <a:spcPts val="3137"/>
              </a:lnSpc>
            </a:pPr>
          </a:p>
          <a:p>
            <a:pPr algn="l">
              <a:lnSpc>
                <a:spcPts val="3137"/>
              </a:lnSpc>
            </a:pP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print("Skate comprado com sucesso!")</a:t>
            </a:r>
          </a:p>
          <a:p>
            <a:pPr algn="l">
              <a:lnSpc>
                <a:spcPts val="3137"/>
              </a:lnSpc>
            </a:pP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else:</a:t>
            </a:r>
          </a:p>
          <a:p>
            <a:pPr algn="l">
              <a:lnSpc>
                <a:spcPts val="3137"/>
              </a:lnSpc>
            </a:pP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print("Moedas insuficientes!")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3738132"/>
            <a:ext cx="2679106" cy="309277"/>
            <a:chOff x="0" y="0"/>
            <a:chExt cx="70084210" cy="80905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084212" cy="8090547"/>
            </a:xfrm>
            <a:custGeom>
              <a:avLst/>
              <a:gdLst/>
              <a:ahLst/>
              <a:cxnLst/>
              <a:rect r="r" b="b" t="t" l="l"/>
              <a:pathLst>
                <a:path h="8090547" w="70084212">
                  <a:moveTo>
                    <a:pt x="0" y="104657"/>
                  </a:moveTo>
                  <a:cubicBezTo>
                    <a:pt x="0" y="46924"/>
                    <a:pt x="162879" y="0"/>
                    <a:pt x="363281" y="0"/>
                  </a:cubicBezTo>
                  <a:lnTo>
                    <a:pt x="69720929" y="0"/>
                  </a:lnTo>
                  <a:cubicBezTo>
                    <a:pt x="69921332" y="0"/>
                    <a:pt x="70084212" y="46924"/>
                    <a:pt x="70084212" y="104657"/>
                  </a:cubicBezTo>
                  <a:lnTo>
                    <a:pt x="70084212" y="7985890"/>
                  </a:lnTo>
                  <a:cubicBezTo>
                    <a:pt x="70084212" y="8043623"/>
                    <a:pt x="69921332" y="8090547"/>
                    <a:pt x="69720929" y="8090547"/>
                  </a:cubicBezTo>
                  <a:lnTo>
                    <a:pt x="363281" y="8090547"/>
                  </a:lnTo>
                  <a:cubicBezTo>
                    <a:pt x="162879" y="8090547"/>
                    <a:pt x="0" y="8043624"/>
                    <a:pt x="0" y="7985890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64728" y="3639974"/>
            <a:ext cx="2679106" cy="40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loja.py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06483" y="4066459"/>
            <a:ext cx="7852817" cy="2303890"/>
            <a:chOff x="0" y="0"/>
            <a:chExt cx="11194419" cy="32842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194420" cy="3284262"/>
            </a:xfrm>
            <a:custGeom>
              <a:avLst/>
              <a:gdLst/>
              <a:ahLst/>
              <a:cxnLst/>
              <a:rect r="r" b="b" t="t" l="l"/>
              <a:pathLst>
                <a:path h="3284262" w="11194420">
                  <a:moveTo>
                    <a:pt x="0" y="42484"/>
                  </a:moveTo>
                  <a:cubicBezTo>
                    <a:pt x="0" y="19048"/>
                    <a:pt x="26016" y="0"/>
                    <a:pt x="58026" y="0"/>
                  </a:cubicBezTo>
                  <a:lnTo>
                    <a:pt x="11136393" y="0"/>
                  </a:lnTo>
                  <a:cubicBezTo>
                    <a:pt x="11168403" y="0"/>
                    <a:pt x="11194420" y="19048"/>
                    <a:pt x="11194420" y="42484"/>
                  </a:cubicBezTo>
                  <a:lnTo>
                    <a:pt x="11194420" y="3241778"/>
                  </a:lnTo>
                  <a:cubicBezTo>
                    <a:pt x="11194420" y="3265214"/>
                    <a:pt x="11168403" y="3284262"/>
                    <a:pt x="11136393" y="3284262"/>
                  </a:cubicBezTo>
                  <a:lnTo>
                    <a:pt x="58026" y="3284262"/>
                  </a:lnTo>
                  <a:cubicBezTo>
                    <a:pt x="26016" y="3284262"/>
                    <a:pt x="0" y="3265214"/>
                    <a:pt x="0" y="3241778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863269" y="4148832"/>
            <a:ext cx="6939245" cy="197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equipar_skate(jogador):</a:t>
            </a:r>
          </a:p>
          <a:p>
            <a:pPr algn="l">
              <a:lnSpc>
                <a:spcPts val="3137"/>
              </a:lnSpc>
            </a:pP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if jogador["nivel"] &gt;= skateData["nivel"]:</a:t>
            </a:r>
          </a:p>
          <a:p>
            <a:pPr algn="l">
              <a:lnSpc>
                <a:spcPts val="3137"/>
              </a:lnSpc>
            </a:pP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print("Skate equipado!")</a:t>
            </a:r>
          </a:p>
          <a:p>
            <a:pPr algn="l">
              <a:lnSpc>
                <a:spcPts val="3137"/>
              </a:lnSpc>
            </a:pP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else:</a:t>
            </a:r>
          </a:p>
          <a:p>
            <a:pPr algn="l">
              <a:lnSpc>
                <a:spcPts val="3137"/>
              </a:lnSpc>
            </a:pP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print("Nível insuficiente!")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406483" y="3757182"/>
            <a:ext cx="2663802" cy="309277"/>
            <a:chOff x="0" y="0"/>
            <a:chExt cx="69683856" cy="80905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683858" cy="8090547"/>
            </a:xfrm>
            <a:custGeom>
              <a:avLst/>
              <a:gdLst/>
              <a:ahLst/>
              <a:cxnLst/>
              <a:rect r="r" b="b" t="t" l="l"/>
              <a:pathLst>
                <a:path h="8090547" w="69683858">
                  <a:moveTo>
                    <a:pt x="0" y="104657"/>
                  </a:moveTo>
                  <a:cubicBezTo>
                    <a:pt x="0" y="46924"/>
                    <a:pt x="161949" y="0"/>
                    <a:pt x="361206" y="0"/>
                  </a:cubicBezTo>
                  <a:lnTo>
                    <a:pt x="69322652" y="0"/>
                  </a:lnTo>
                  <a:cubicBezTo>
                    <a:pt x="69521908" y="0"/>
                    <a:pt x="69683858" y="46924"/>
                    <a:pt x="69683858" y="104657"/>
                  </a:cubicBezTo>
                  <a:lnTo>
                    <a:pt x="69683858" y="7985890"/>
                  </a:lnTo>
                  <a:cubicBezTo>
                    <a:pt x="69683858" y="8043623"/>
                    <a:pt x="69521908" y="8090547"/>
                    <a:pt x="69322652" y="8090547"/>
                  </a:cubicBezTo>
                  <a:lnTo>
                    <a:pt x="361206" y="8090547"/>
                  </a:lnTo>
                  <a:cubicBezTo>
                    <a:pt x="161949" y="8090547"/>
                    <a:pt x="0" y="8043624"/>
                    <a:pt x="0" y="7985890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442306" y="3659024"/>
            <a:ext cx="2663802" cy="40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inventario.py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06483" y="7321072"/>
            <a:ext cx="7852817" cy="2303890"/>
            <a:chOff x="0" y="0"/>
            <a:chExt cx="11194419" cy="32842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194420" cy="3284262"/>
            </a:xfrm>
            <a:custGeom>
              <a:avLst/>
              <a:gdLst/>
              <a:ahLst/>
              <a:cxnLst/>
              <a:rect r="r" b="b" t="t" l="l"/>
              <a:pathLst>
                <a:path h="3284262" w="11194420">
                  <a:moveTo>
                    <a:pt x="0" y="42484"/>
                  </a:moveTo>
                  <a:cubicBezTo>
                    <a:pt x="0" y="19048"/>
                    <a:pt x="26016" y="0"/>
                    <a:pt x="58026" y="0"/>
                  </a:cubicBezTo>
                  <a:lnTo>
                    <a:pt x="11136393" y="0"/>
                  </a:lnTo>
                  <a:cubicBezTo>
                    <a:pt x="11168403" y="0"/>
                    <a:pt x="11194420" y="19048"/>
                    <a:pt x="11194420" y="42484"/>
                  </a:cubicBezTo>
                  <a:lnTo>
                    <a:pt x="11194420" y="3241778"/>
                  </a:lnTo>
                  <a:cubicBezTo>
                    <a:pt x="11194420" y="3265214"/>
                    <a:pt x="11168403" y="3284262"/>
                    <a:pt x="11136393" y="3284262"/>
                  </a:cubicBezTo>
                  <a:lnTo>
                    <a:pt x="58026" y="3284262"/>
                  </a:lnTo>
                  <a:cubicBezTo>
                    <a:pt x="26016" y="3284262"/>
                    <a:pt x="0" y="3265214"/>
                    <a:pt x="0" y="3241778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863269" y="7403445"/>
            <a:ext cx="7215071" cy="158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inspect_skate():</a:t>
            </a:r>
          </a:p>
          <a:p>
            <a:pPr algn="l">
              <a:lnSpc>
                <a:spcPts val="3137"/>
              </a:lnSpc>
            </a:pP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p</a:t>
            </a: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rint("--- Skate ---")</a:t>
            </a:r>
          </a:p>
          <a:p>
            <a:pPr algn="l">
              <a:lnSpc>
                <a:spcPts val="3137"/>
              </a:lnSpc>
            </a:pP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print(f"Preço: {skateData["preco"]} moedas")</a:t>
            </a:r>
          </a:p>
          <a:p>
            <a:pPr algn="l">
              <a:lnSpc>
                <a:spcPts val="3137"/>
              </a:lnSpc>
            </a:pP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print(f"Requisito: Nível {skateData["nivel"]}")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406483" y="7011795"/>
            <a:ext cx="2663802" cy="309277"/>
            <a:chOff x="0" y="0"/>
            <a:chExt cx="69683856" cy="80905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683858" cy="8090547"/>
            </a:xfrm>
            <a:custGeom>
              <a:avLst/>
              <a:gdLst/>
              <a:ahLst/>
              <a:cxnLst/>
              <a:rect r="r" b="b" t="t" l="l"/>
              <a:pathLst>
                <a:path h="8090547" w="69683858">
                  <a:moveTo>
                    <a:pt x="0" y="104657"/>
                  </a:moveTo>
                  <a:cubicBezTo>
                    <a:pt x="0" y="46924"/>
                    <a:pt x="161949" y="0"/>
                    <a:pt x="361206" y="0"/>
                  </a:cubicBezTo>
                  <a:lnTo>
                    <a:pt x="69322652" y="0"/>
                  </a:lnTo>
                  <a:cubicBezTo>
                    <a:pt x="69521908" y="0"/>
                    <a:pt x="69683858" y="46924"/>
                    <a:pt x="69683858" y="104657"/>
                  </a:cubicBezTo>
                  <a:lnTo>
                    <a:pt x="69683858" y="7985890"/>
                  </a:lnTo>
                  <a:cubicBezTo>
                    <a:pt x="69683858" y="8043623"/>
                    <a:pt x="69521908" y="8090547"/>
                    <a:pt x="69322652" y="8090547"/>
                  </a:cubicBezTo>
                  <a:lnTo>
                    <a:pt x="361206" y="8090547"/>
                  </a:lnTo>
                  <a:cubicBezTo>
                    <a:pt x="161949" y="8090547"/>
                    <a:pt x="0" y="8043624"/>
                    <a:pt x="0" y="7985890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442306" y="6913637"/>
            <a:ext cx="2663802" cy="40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1965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interface.py</a:t>
            </a:r>
          </a:p>
        </p:txBody>
      </p:sp>
      <p:sp>
        <p:nvSpPr>
          <p:cNvPr name="AutoShape 29" id="29"/>
          <p:cNvSpPr/>
          <p:nvPr/>
        </p:nvSpPr>
        <p:spPr>
          <a:xfrm flipV="true">
            <a:off x="1035620" y="3238355"/>
            <a:ext cx="16230600" cy="0"/>
          </a:xfrm>
          <a:prstGeom prst="line">
            <a:avLst/>
          </a:prstGeom>
          <a:ln cap="flat" w="38100">
            <a:solidFill>
              <a:srgbClr val="2829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1028700" y="1800060"/>
            <a:ext cx="11731022" cy="918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240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Uma abordagem possível para o caso é a criação de uma lista com os itens e suas respectivas informações para </a:t>
            </a:r>
            <a:r>
              <a:rPr lang="en-US" sz="2401" b="true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agregações posteriores</a:t>
            </a:r>
            <a:r>
              <a:rPr lang="en-US" sz="2401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81032" y="7403445"/>
            <a:ext cx="5168900" cy="41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4"/>
              </a:lnSpc>
              <a:spcBef>
                <a:spcPct val="0"/>
              </a:spcBef>
            </a:pPr>
            <a:r>
              <a:rPr lang="en-US" sz="200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jogador["inventario"].append("Skate")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DAHW09cNXRQ</dc:identifier>
  <dcterms:modified xsi:type="dcterms:W3CDTF">2011-08-01T06:04:30Z</dcterms:modified>
  <cp:revision>1</cp:revision>
  <dc:title>Replace-Magic-Number-with-Symbolic-Constant.pptx</dc:title>
</cp:coreProperties>
</file>